
<file path=[Content_Types].xml><?xml version="1.0" encoding="utf-8"?>
<Types xmlns="http://schemas.openxmlformats.org/package/2006/content-types">
  <Default Extension="bin" ContentType="image/png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599FD5-7B83-4169-BFF9-422CD698E9A0}" v="19" dt="2026-06-12T07:34:17.4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373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SHIKESH KAJALKAR" userId="1e5c9dd21413d5e5" providerId="LiveId" clId="{243A3071-18D4-49EE-B9CD-6607D674E58C}"/>
    <pc:docChg chg="custSel modSld">
      <pc:chgData name="RUSHIKESH KAJALKAR" userId="1e5c9dd21413d5e5" providerId="LiveId" clId="{243A3071-18D4-49EE-B9CD-6607D674E58C}" dt="2026-06-12T07:34:24.490" v="74" actId="14100"/>
      <pc:docMkLst>
        <pc:docMk/>
      </pc:docMkLst>
      <pc:sldChg chg="addSp delSp modSp mod">
        <pc:chgData name="RUSHIKESH KAJALKAR" userId="1e5c9dd21413d5e5" providerId="LiveId" clId="{243A3071-18D4-49EE-B9CD-6607D674E58C}" dt="2026-06-12T07:29:53.673" v="14" actId="1076"/>
        <pc:sldMkLst>
          <pc:docMk/>
          <pc:sldMk cId="0" sldId="256"/>
        </pc:sldMkLst>
        <pc:spChg chg="mod">
          <ac:chgData name="RUSHIKESH KAJALKAR" userId="1e5c9dd21413d5e5" providerId="LiveId" clId="{243A3071-18D4-49EE-B9CD-6607D674E58C}" dt="2026-06-12T07:29:48.433" v="13" actId="14100"/>
          <ac:spMkLst>
            <pc:docMk/>
            <pc:sldMk cId="0" sldId="256"/>
            <ac:spMk id="2" creationId="{00000000-0000-0000-0000-000000000000}"/>
          </ac:spMkLst>
        </pc:spChg>
        <pc:spChg chg="add del mod">
          <ac:chgData name="RUSHIKESH KAJALKAR" userId="1e5c9dd21413d5e5" providerId="LiveId" clId="{243A3071-18D4-49EE-B9CD-6607D674E58C}" dt="2026-06-12T07:25:17.956" v="9" actId="21"/>
          <ac:spMkLst>
            <pc:docMk/>
            <pc:sldMk cId="0" sldId="256"/>
            <ac:spMk id="5" creationId="{570E9BB6-96A9-4F7D-40A5-52A2F7F8F6DA}"/>
          </ac:spMkLst>
        </pc:spChg>
        <pc:picChg chg="add mod">
          <ac:chgData name="RUSHIKESH KAJALKAR" userId="1e5c9dd21413d5e5" providerId="LiveId" clId="{243A3071-18D4-49EE-B9CD-6607D674E58C}" dt="2026-06-12T07:29:42.121" v="12" actId="1076"/>
          <ac:picMkLst>
            <pc:docMk/>
            <pc:sldMk cId="0" sldId="256"/>
            <ac:picMk id="3" creationId="{02F619DD-0F0F-6B54-2C2D-7D8AF64A9437}"/>
          </ac:picMkLst>
        </pc:picChg>
        <pc:picChg chg="del">
          <ac:chgData name="RUSHIKESH KAJALKAR" userId="1e5c9dd21413d5e5" providerId="LiveId" clId="{243A3071-18D4-49EE-B9CD-6607D674E58C}" dt="2026-06-12T07:24:18.488" v="4" actId="21"/>
          <ac:picMkLst>
            <pc:docMk/>
            <pc:sldMk cId="0" sldId="256"/>
            <ac:picMk id="9" creationId="{8103B296-FEAE-80D8-C940-09F83F2B0220}"/>
          </ac:picMkLst>
        </pc:picChg>
        <pc:picChg chg="mod">
          <ac:chgData name="RUSHIKESH KAJALKAR" userId="1e5c9dd21413d5e5" providerId="LiveId" clId="{243A3071-18D4-49EE-B9CD-6607D674E58C}" dt="2026-06-12T07:29:53.673" v="14" actId="1076"/>
          <ac:picMkLst>
            <pc:docMk/>
            <pc:sldMk cId="0" sldId="256"/>
            <ac:picMk id="12" creationId="{F5F1E16E-BC20-BD94-D06E-0257110EE737}"/>
          </ac:picMkLst>
        </pc:picChg>
      </pc:sldChg>
      <pc:sldChg chg="modSp mod">
        <pc:chgData name="RUSHIKESH KAJALKAR" userId="1e5c9dd21413d5e5" providerId="LiveId" clId="{243A3071-18D4-49EE-B9CD-6607D674E58C}" dt="2026-06-12T07:34:24.490" v="74" actId="14100"/>
        <pc:sldMkLst>
          <pc:docMk/>
          <pc:sldMk cId="0" sldId="257"/>
        </pc:sldMkLst>
        <pc:spChg chg="mod">
          <ac:chgData name="RUSHIKESH KAJALKAR" userId="1e5c9dd21413d5e5" providerId="LiveId" clId="{243A3071-18D4-49EE-B9CD-6607D674E58C}" dt="2026-06-12T07:34:17.426" v="73"/>
          <ac:spMkLst>
            <pc:docMk/>
            <pc:sldMk cId="0" sldId="257"/>
            <ac:spMk id="3" creationId="{00000000-0000-0000-0000-000000000000}"/>
          </ac:spMkLst>
        </pc:spChg>
        <pc:picChg chg="mod">
          <ac:chgData name="RUSHIKESH KAJALKAR" userId="1e5c9dd21413d5e5" providerId="LiveId" clId="{243A3071-18D4-49EE-B9CD-6607D674E58C}" dt="2026-06-12T07:34:24.490" v="74" actId="14100"/>
          <ac:picMkLst>
            <pc:docMk/>
            <pc:sldMk cId="0" sldId="257"/>
            <ac:picMk id="7" creationId="{E753A1A4-5A64-38A6-7A81-60500055A371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ENOVO\Downloads\Dashboard%20(1)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ENOVO\Downloads\Dashboard%20(1)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ENOVO\Downloads\Dashboard%20(1)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ENOVO\Downloads\Dashboard%20(1)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[Dashboard (1).xlsx]Analysis!PivotTable3</c:name>
    <c:fmtId val="4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050" dirty="0"/>
              <a:t>Manufactured vs Rejected Quantity with Rejection%</a:t>
            </a:r>
          </a:p>
        </c:rich>
      </c:tx>
      <c:layout>
        <c:manualLayout>
          <c:xMode val="edge"/>
          <c:yMode val="edge"/>
          <c:x val="0.1609849922199591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</c:pivotFmt>
      <c:pivotFmt>
        <c:idx val="4"/>
      </c:pivotFmt>
      <c:pivotFmt>
        <c:idx val="5"/>
      </c:pivotFmt>
      <c:pivotFmt>
        <c:idx val="6"/>
      </c:pivotFmt>
      <c:pivotFmt>
        <c:idx val="7"/>
      </c:pivotFmt>
      <c:pivotFmt>
        <c:idx val="8"/>
      </c:pivotFmt>
      <c:pivotFmt>
        <c:idx val="9"/>
      </c:pivotFmt>
      <c:pivotFmt>
        <c:idx val="10"/>
      </c:pivotFmt>
      <c:pivotFmt>
        <c:idx val="11"/>
      </c:pivotFmt>
      <c:pivotFmt>
        <c:idx val="12"/>
      </c:pivotFmt>
      <c:pivotFmt>
        <c:idx val="13"/>
      </c:pivotFmt>
      <c:pivotFmt>
        <c:idx val="14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</c:pivotFmt>
      <c:pivotFmt>
        <c:idx val="16"/>
      </c:pivotFmt>
      <c:pivotFmt>
        <c:idx val="17"/>
      </c:pivotFmt>
      <c:pivotFmt>
        <c:idx val="18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</c:pivotFmt>
      <c:pivotFmt>
        <c:idx val="21"/>
      </c:pivotFmt>
      <c:pivotFmt>
        <c:idx val="22"/>
      </c:pivotFmt>
      <c:pivotFmt>
        <c:idx val="23"/>
        <c:spPr>
          <a:gradFill rotWithShape="1">
            <a:gsLst>
              <a:gs pos="0">
                <a:schemeClr val="accent2">
                  <a:tint val="50000"/>
                  <a:satMod val="300000"/>
                </a:schemeClr>
              </a:gs>
              <a:gs pos="35000">
                <a:schemeClr val="accent2">
                  <a:tint val="37000"/>
                  <a:satMod val="300000"/>
                </a:schemeClr>
              </a:gs>
              <a:gs pos="100000">
                <a:schemeClr val="accent2">
                  <a:tint val="15000"/>
                  <a:satMod val="350000"/>
                </a:schemeClr>
              </a:gs>
            </a:gsLst>
            <a:lin ang="16200000" scaled="1"/>
          </a:gradFill>
          <a:ln w="9525" cap="flat" cmpd="sng" algn="ctr">
            <a:solidFill>
              <a:schemeClr val="accent2">
                <a:shade val="95000"/>
              </a:schemeClr>
            </a:solidFill>
            <a:rou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c:spPr>
        <c:marker>
          <c:symbol val="circle"/>
          <c:size val="5"/>
          <c:spPr>
            <a:gradFill rotWithShape="1">
              <a:gsLst>
                <a:gs pos="0">
                  <a:schemeClr val="accent2">
                    <a:tint val="50000"/>
                    <a:satMod val="300000"/>
                  </a:schemeClr>
                </a:gs>
                <a:gs pos="35000">
                  <a:schemeClr val="accent2">
                    <a:tint val="37000"/>
                    <a:satMod val="300000"/>
                  </a:schemeClr>
                </a:gs>
                <a:gs pos="100000">
                  <a:schemeClr val="accent2">
                    <a:tint val="15000"/>
                    <a:satMod val="350000"/>
                  </a:schemeClr>
                </a:gs>
              </a:gsLst>
              <a:lin ang="16200000" scaled="1"/>
            </a:gradFill>
            <a:ln w="9525" cap="flat" cmpd="sng" algn="ctr">
              <a:solidFill>
                <a:schemeClr val="accent2">
                  <a:shade val="95000"/>
                </a:schemeClr>
              </a:solidFill>
              <a:rou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gradFill rotWithShape="1">
            <a:gsLst>
              <a:gs pos="0">
                <a:schemeClr val="accent2">
                  <a:tint val="50000"/>
                  <a:satMod val="300000"/>
                </a:schemeClr>
              </a:gs>
              <a:gs pos="35000">
                <a:schemeClr val="accent2">
                  <a:tint val="37000"/>
                  <a:satMod val="300000"/>
                </a:schemeClr>
              </a:gs>
              <a:gs pos="100000">
                <a:schemeClr val="accent2">
                  <a:tint val="15000"/>
                  <a:satMod val="350000"/>
                </a:schemeClr>
              </a:gs>
            </a:gsLst>
            <a:lin ang="16200000" scaled="1"/>
          </a:gradFill>
          <a:ln w="9525" cap="flat" cmpd="sng" algn="ctr">
            <a:solidFill>
              <a:schemeClr val="accent2">
                <a:shade val="95000"/>
              </a:schemeClr>
            </a:solidFill>
            <a:rou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c:spPr>
      </c:pivotFmt>
      <c:pivotFmt>
        <c:idx val="25"/>
        <c:spPr>
          <a:gradFill rotWithShape="1">
            <a:gsLst>
              <a:gs pos="0">
                <a:schemeClr val="accent2">
                  <a:tint val="50000"/>
                  <a:satMod val="300000"/>
                </a:schemeClr>
              </a:gs>
              <a:gs pos="35000">
                <a:schemeClr val="accent2">
                  <a:tint val="37000"/>
                  <a:satMod val="300000"/>
                </a:schemeClr>
              </a:gs>
              <a:gs pos="100000">
                <a:schemeClr val="accent2">
                  <a:tint val="15000"/>
                  <a:satMod val="350000"/>
                </a:schemeClr>
              </a:gs>
            </a:gsLst>
            <a:lin ang="16200000" scaled="1"/>
          </a:gradFill>
          <a:ln w="9525" cap="flat" cmpd="sng" algn="ctr">
            <a:solidFill>
              <a:schemeClr val="accent2">
                <a:shade val="95000"/>
              </a:schemeClr>
            </a:solidFill>
            <a:rou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c:spPr>
      </c:pivotFmt>
      <c:pivotFmt>
        <c:idx val="26"/>
        <c:spPr>
          <a:gradFill rotWithShape="1">
            <a:gsLst>
              <a:gs pos="0">
                <a:schemeClr val="accent2">
                  <a:tint val="50000"/>
                  <a:satMod val="300000"/>
                </a:schemeClr>
              </a:gs>
              <a:gs pos="35000">
                <a:schemeClr val="accent2">
                  <a:tint val="37000"/>
                  <a:satMod val="300000"/>
                </a:schemeClr>
              </a:gs>
              <a:gs pos="100000">
                <a:schemeClr val="accent2">
                  <a:tint val="15000"/>
                  <a:satMod val="350000"/>
                </a:schemeClr>
              </a:gs>
            </a:gsLst>
            <a:lin ang="16200000" scaled="1"/>
          </a:gradFill>
          <a:ln w="9525" cap="flat" cmpd="sng" algn="ctr">
            <a:solidFill>
              <a:schemeClr val="accent2">
                <a:shade val="95000"/>
              </a:schemeClr>
            </a:solidFill>
            <a:rou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c:spPr>
      </c:pivotFmt>
      <c:pivotFmt>
        <c:idx val="27"/>
        <c:spPr>
          <a:gradFill rotWithShape="1">
            <a:gsLst>
              <a:gs pos="0">
                <a:schemeClr val="accent2">
                  <a:tint val="50000"/>
                  <a:satMod val="300000"/>
                </a:schemeClr>
              </a:gs>
              <a:gs pos="35000">
                <a:schemeClr val="accent2">
                  <a:tint val="37000"/>
                  <a:satMod val="300000"/>
                </a:schemeClr>
              </a:gs>
              <a:gs pos="100000">
                <a:schemeClr val="accent2">
                  <a:tint val="15000"/>
                  <a:satMod val="350000"/>
                </a:schemeClr>
              </a:gs>
            </a:gsLst>
            <a:lin ang="16200000" scaled="1"/>
          </a:gradFill>
          <a:ln w="9525" cap="flat" cmpd="sng" algn="ctr">
            <a:solidFill>
              <a:schemeClr val="accent2">
                <a:shade val="95000"/>
              </a:schemeClr>
            </a:solidFill>
            <a:rou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c:spPr>
        <c:marker>
          <c:symbol val="circle"/>
          <c:size val="5"/>
          <c:spPr>
            <a:gradFill rotWithShape="1">
              <a:gsLst>
                <a:gs pos="0">
                  <a:schemeClr val="accent4">
                    <a:tint val="50000"/>
                    <a:satMod val="300000"/>
                  </a:schemeClr>
                </a:gs>
                <a:gs pos="35000">
                  <a:schemeClr val="accent4">
                    <a:tint val="37000"/>
                    <a:satMod val="300000"/>
                  </a:schemeClr>
                </a:gs>
                <a:gs pos="100000">
                  <a:schemeClr val="accent4">
                    <a:tint val="15000"/>
                    <a:satMod val="350000"/>
                  </a:schemeClr>
                </a:gs>
              </a:gsLst>
              <a:lin ang="16200000" scaled="1"/>
            </a:gradFill>
            <a:ln w="9525" cap="flat" cmpd="sng" algn="ctr">
              <a:solidFill>
                <a:schemeClr val="accent4">
                  <a:shade val="95000"/>
                </a:schemeClr>
              </a:solidFill>
              <a:rou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gradFill rotWithShape="1">
            <a:gsLst>
              <a:gs pos="0">
                <a:schemeClr val="accent2">
                  <a:tint val="50000"/>
                  <a:satMod val="300000"/>
                </a:schemeClr>
              </a:gs>
              <a:gs pos="35000">
                <a:schemeClr val="accent2">
                  <a:tint val="37000"/>
                  <a:satMod val="300000"/>
                </a:schemeClr>
              </a:gs>
              <a:gs pos="100000">
                <a:schemeClr val="accent2">
                  <a:tint val="15000"/>
                  <a:satMod val="350000"/>
                </a:schemeClr>
              </a:gs>
            </a:gsLst>
            <a:lin ang="16200000" scaled="1"/>
          </a:gradFill>
          <a:ln w="15875" cap="rnd" cmpd="sng" algn="ctr">
            <a:solidFill>
              <a:schemeClr val="accent2"/>
            </a:solidFill>
            <a:rou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c:spPr>
        <c:marker>
          <c:symbol val="circle"/>
          <c:size val="5"/>
          <c:spPr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6">
                  <a:shade val="95000"/>
                </a:schemeClr>
              </a:solidFill>
              <a:rou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gradFill rotWithShape="1">
            <a:gsLst>
              <a:gs pos="0">
                <a:schemeClr val="accent2">
                  <a:tint val="50000"/>
                  <a:satMod val="300000"/>
                </a:schemeClr>
              </a:gs>
              <a:gs pos="35000">
                <a:schemeClr val="accent2">
                  <a:tint val="37000"/>
                  <a:satMod val="300000"/>
                </a:schemeClr>
              </a:gs>
              <a:gs pos="100000">
                <a:schemeClr val="accent2">
                  <a:tint val="15000"/>
                  <a:satMod val="350000"/>
                </a:schemeClr>
              </a:gs>
            </a:gsLst>
            <a:lin ang="16200000" scaled="1"/>
          </a:gradFill>
          <a:ln w="15875" cap="rnd" cmpd="sng" algn="ctr">
            <a:solidFill>
              <a:schemeClr val="accent6"/>
            </a:solidFill>
            <a:rou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c:spPr>
        <c:marker>
          <c:symbol val="circle"/>
          <c:size val="5"/>
          <c:spPr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6">
                  <a:shade val="95000"/>
                </a:schemeClr>
              </a:solidFill>
              <a:rou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c:spPr>
        </c:marker>
      </c:pivotFmt>
      <c:pivotFmt>
        <c:idx val="30"/>
        <c:spPr>
          <a:gradFill rotWithShape="1">
            <a:gsLst>
              <a:gs pos="0">
                <a:schemeClr val="accent2">
                  <a:tint val="50000"/>
                  <a:satMod val="300000"/>
                </a:schemeClr>
              </a:gs>
              <a:gs pos="35000">
                <a:schemeClr val="accent2">
                  <a:tint val="37000"/>
                  <a:satMod val="300000"/>
                </a:schemeClr>
              </a:gs>
              <a:gs pos="100000">
                <a:schemeClr val="accent2">
                  <a:tint val="15000"/>
                  <a:satMod val="350000"/>
                </a:schemeClr>
              </a:gs>
            </a:gsLst>
            <a:lin ang="16200000" scaled="1"/>
          </a:gradFill>
          <a:ln w="15875" cap="rnd" cmpd="sng" algn="ctr">
            <a:solidFill>
              <a:schemeClr val="accent6"/>
            </a:solidFill>
            <a:rou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c:spPr>
        <c:marker>
          <c:symbol val="circle"/>
          <c:size val="5"/>
          <c:spPr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6">
                  <a:shade val="95000"/>
                </a:schemeClr>
              </a:solidFill>
              <a:rou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c:spPr>
        </c:marker>
      </c:pivotFmt>
      <c:pivotFmt>
        <c:idx val="31"/>
        <c:spPr>
          <a:gradFill rotWithShape="1">
            <a:gsLst>
              <a:gs pos="0">
                <a:schemeClr val="accent2">
                  <a:tint val="50000"/>
                  <a:satMod val="300000"/>
                </a:schemeClr>
              </a:gs>
              <a:gs pos="35000">
                <a:schemeClr val="accent2">
                  <a:tint val="37000"/>
                  <a:satMod val="300000"/>
                </a:schemeClr>
              </a:gs>
              <a:gs pos="100000">
                <a:schemeClr val="accent2">
                  <a:tint val="15000"/>
                  <a:satMod val="350000"/>
                </a:schemeClr>
              </a:gs>
            </a:gsLst>
            <a:lin ang="16200000" scaled="1"/>
          </a:gradFill>
          <a:ln w="15875" cap="rnd" cmpd="sng" algn="ctr">
            <a:solidFill>
              <a:schemeClr val="accent6"/>
            </a:solidFill>
            <a:rou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c:spPr>
        <c:marker>
          <c:symbol val="circle"/>
          <c:size val="5"/>
          <c:spPr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6">
                  <a:shade val="95000"/>
                </a:schemeClr>
              </a:solidFill>
              <a:rou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c:spPr>
        </c:marker>
      </c:pivotFmt>
      <c:pivotFmt>
        <c:idx val="32"/>
        <c:spPr>
          <a:gradFill rotWithShape="1">
            <a:gsLst>
              <a:gs pos="0">
                <a:schemeClr val="accent2">
                  <a:tint val="50000"/>
                  <a:satMod val="300000"/>
                </a:schemeClr>
              </a:gs>
              <a:gs pos="35000">
                <a:schemeClr val="accent2">
                  <a:tint val="37000"/>
                  <a:satMod val="300000"/>
                </a:schemeClr>
              </a:gs>
              <a:gs pos="100000">
                <a:schemeClr val="accent2">
                  <a:tint val="15000"/>
                  <a:satMod val="350000"/>
                </a:schemeClr>
              </a:gs>
            </a:gsLst>
            <a:lin ang="16200000" scaled="1"/>
          </a:gradFill>
          <a:ln w="9525" cap="flat" cmpd="sng" algn="ctr">
            <a:solidFill>
              <a:schemeClr val="accent2">
                <a:shade val="95000"/>
              </a:schemeClr>
            </a:solidFill>
            <a:rou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"/>
        <c:spPr>
          <a:gradFill rotWithShape="1">
            <a:gsLst>
              <a:gs pos="0">
                <a:schemeClr val="accent2">
                  <a:tint val="50000"/>
                  <a:satMod val="300000"/>
                </a:schemeClr>
              </a:gs>
              <a:gs pos="35000">
                <a:schemeClr val="accent2">
                  <a:tint val="37000"/>
                  <a:satMod val="300000"/>
                </a:schemeClr>
              </a:gs>
              <a:gs pos="100000">
                <a:schemeClr val="accent2">
                  <a:tint val="15000"/>
                  <a:satMod val="350000"/>
                </a:schemeClr>
              </a:gs>
            </a:gsLst>
            <a:lin ang="16200000" scaled="1"/>
          </a:gradFill>
          <a:ln w="9525" cap="flat" cmpd="sng" algn="ctr">
            <a:solidFill>
              <a:schemeClr val="accent2">
                <a:shade val="95000"/>
              </a:schemeClr>
            </a:solidFill>
            <a:rou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"/>
        <c:spPr>
          <a:gradFill rotWithShape="1">
            <a:gsLst>
              <a:gs pos="0">
                <a:schemeClr val="accent2">
                  <a:tint val="50000"/>
                  <a:satMod val="300000"/>
                </a:schemeClr>
              </a:gs>
              <a:gs pos="35000">
                <a:schemeClr val="accent2">
                  <a:tint val="37000"/>
                  <a:satMod val="300000"/>
                </a:schemeClr>
              </a:gs>
              <a:gs pos="100000">
                <a:schemeClr val="accent2">
                  <a:tint val="15000"/>
                  <a:satMod val="350000"/>
                </a:schemeClr>
              </a:gs>
            </a:gsLst>
            <a:lin ang="16200000" scaled="1"/>
          </a:gradFill>
          <a:ln w="15875" cap="rnd" cmpd="sng" algn="ctr">
            <a:solidFill>
              <a:schemeClr val="accent2"/>
            </a:solidFill>
            <a:rou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c:spPr>
        <c:marker>
          <c:symbol val="circle"/>
          <c:size val="5"/>
          <c:spPr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6">
                  <a:shade val="95000"/>
                </a:schemeClr>
              </a:solidFill>
              <a:rou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"/>
        <c:spPr>
          <a:gradFill rotWithShape="1">
            <a:gsLst>
              <a:gs pos="0">
                <a:schemeClr val="accent2">
                  <a:tint val="50000"/>
                  <a:satMod val="300000"/>
                </a:schemeClr>
              </a:gs>
              <a:gs pos="35000">
                <a:schemeClr val="accent2">
                  <a:tint val="37000"/>
                  <a:satMod val="300000"/>
                </a:schemeClr>
              </a:gs>
              <a:gs pos="100000">
                <a:schemeClr val="accent2">
                  <a:tint val="15000"/>
                  <a:satMod val="350000"/>
                </a:schemeClr>
              </a:gs>
            </a:gsLst>
            <a:lin ang="16200000" scaled="1"/>
          </a:gradFill>
          <a:ln w="15875" cap="rnd" cmpd="sng" algn="ctr">
            <a:solidFill>
              <a:schemeClr val="accent6"/>
            </a:solidFill>
            <a:rou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c:spPr>
        <c:marker>
          <c:symbol val="circle"/>
          <c:size val="5"/>
          <c:spPr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6">
                  <a:shade val="95000"/>
                </a:schemeClr>
              </a:solidFill>
              <a:rou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c:spPr>
        </c:marker>
      </c:pivotFmt>
      <c:pivotFmt>
        <c:idx val="36"/>
        <c:spPr>
          <a:gradFill rotWithShape="1">
            <a:gsLst>
              <a:gs pos="0">
                <a:schemeClr val="accent2">
                  <a:tint val="50000"/>
                  <a:satMod val="300000"/>
                </a:schemeClr>
              </a:gs>
              <a:gs pos="35000">
                <a:schemeClr val="accent2">
                  <a:tint val="37000"/>
                  <a:satMod val="300000"/>
                </a:schemeClr>
              </a:gs>
              <a:gs pos="100000">
                <a:schemeClr val="accent2">
                  <a:tint val="15000"/>
                  <a:satMod val="350000"/>
                </a:schemeClr>
              </a:gs>
            </a:gsLst>
            <a:lin ang="16200000" scaled="1"/>
          </a:gradFill>
          <a:ln w="15875" cap="rnd" cmpd="sng" algn="ctr">
            <a:solidFill>
              <a:schemeClr val="accent6"/>
            </a:solidFill>
            <a:rou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c:spPr>
        <c:marker>
          <c:symbol val="circle"/>
          <c:size val="5"/>
          <c:spPr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6">
                  <a:shade val="95000"/>
                </a:schemeClr>
              </a:solidFill>
              <a:rou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c:spPr>
        </c:marker>
      </c:pivotFmt>
      <c:pivotFmt>
        <c:idx val="37"/>
        <c:spPr>
          <a:gradFill rotWithShape="1">
            <a:gsLst>
              <a:gs pos="0">
                <a:schemeClr val="accent2">
                  <a:tint val="50000"/>
                  <a:satMod val="300000"/>
                </a:schemeClr>
              </a:gs>
              <a:gs pos="35000">
                <a:schemeClr val="accent2">
                  <a:tint val="37000"/>
                  <a:satMod val="300000"/>
                </a:schemeClr>
              </a:gs>
              <a:gs pos="100000">
                <a:schemeClr val="accent2">
                  <a:tint val="15000"/>
                  <a:satMod val="350000"/>
                </a:schemeClr>
              </a:gs>
            </a:gsLst>
            <a:lin ang="16200000" scaled="1"/>
          </a:gradFill>
          <a:ln w="15875" cap="rnd" cmpd="sng" algn="ctr">
            <a:solidFill>
              <a:schemeClr val="accent6"/>
            </a:solidFill>
            <a:rou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c:spPr>
        <c:marker>
          <c:symbol val="circle"/>
          <c:size val="5"/>
          <c:spPr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6">
                  <a:shade val="95000"/>
                </a:schemeClr>
              </a:solidFill>
              <a:rou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c:spPr>
        </c:marker>
      </c:pivotFmt>
      <c:pivotFmt>
        <c:idx val="38"/>
        <c:spPr>
          <a:gradFill rotWithShape="1">
            <a:gsLst>
              <a:gs pos="0">
                <a:schemeClr val="accent2">
                  <a:tint val="50000"/>
                  <a:satMod val="300000"/>
                </a:schemeClr>
              </a:gs>
              <a:gs pos="35000">
                <a:schemeClr val="accent2">
                  <a:tint val="37000"/>
                  <a:satMod val="300000"/>
                </a:schemeClr>
              </a:gs>
              <a:gs pos="100000">
                <a:schemeClr val="accent2">
                  <a:tint val="15000"/>
                  <a:satMod val="350000"/>
                </a:schemeClr>
              </a:gs>
            </a:gsLst>
            <a:lin ang="16200000" scaled="1"/>
          </a:gradFill>
          <a:ln w="9525" cap="flat" cmpd="sng" algn="ctr">
            <a:solidFill>
              <a:schemeClr val="accent2">
                <a:shade val="95000"/>
              </a:schemeClr>
            </a:solidFill>
            <a:rou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9"/>
        <c:spPr>
          <a:gradFill rotWithShape="1">
            <a:gsLst>
              <a:gs pos="0">
                <a:schemeClr val="accent2">
                  <a:tint val="50000"/>
                  <a:satMod val="300000"/>
                </a:schemeClr>
              </a:gs>
              <a:gs pos="35000">
                <a:schemeClr val="accent2">
                  <a:tint val="37000"/>
                  <a:satMod val="300000"/>
                </a:schemeClr>
              </a:gs>
              <a:gs pos="100000">
                <a:schemeClr val="accent2">
                  <a:tint val="15000"/>
                  <a:satMod val="350000"/>
                </a:schemeClr>
              </a:gs>
            </a:gsLst>
            <a:lin ang="16200000" scaled="1"/>
          </a:gradFill>
          <a:ln w="9525" cap="flat" cmpd="sng" algn="ctr">
            <a:solidFill>
              <a:schemeClr val="accent2">
                <a:shade val="95000"/>
              </a:schemeClr>
            </a:solidFill>
            <a:rou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0"/>
        <c:spPr>
          <a:gradFill rotWithShape="1">
            <a:gsLst>
              <a:gs pos="0">
                <a:schemeClr val="accent2">
                  <a:tint val="50000"/>
                  <a:satMod val="300000"/>
                </a:schemeClr>
              </a:gs>
              <a:gs pos="35000">
                <a:schemeClr val="accent2">
                  <a:tint val="37000"/>
                  <a:satMod val="300000"/>
                </a:schemeClr>
              </a:gs>
              <a:gs pos="100000">
                <a:schemeClr val="accent2">
                  <a:tint val="15000"/>
                  <a:satMod val="350000"/>
                </a:schemeClr>
              </a:gs>
            </a:gsLst>
            <a:lin ang="16200000" scaled="1"/>
          </a:gradFill>
          <a:ln w="15875" cap="rnd" cmpd="sng" algn="ctr">
            <a:solidFill>
              <a:schemeClr val="accent2"/>
            </a:solidFill>
            <a:rou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c:spPr>
        <c:marker>
          <c:symbol val="circle"/>
          <c:size val="5"/>
          <c:spPr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6">
                  <a:shade val="95000"/>
                </a:schemeClr>
              </a:solidFill>
              <a:rou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1"/>
        <c:spPr>
          <a:gradFill rotWithShape="1">
            <a:gsLst>
              <a:gs pos="0">
                <a:schemeClr val="accent2">
                  <a:tint val="50000"/>
                  <a:satMod val="300000"/>
                </a:schemeClr>
              </a:gs>
              <a:gs pos="35000">
                <a:schemeClr val="accent2">
                  <a:tint val="37000"/>
                  <a:satMod val="300000"/>
                </a:schemeClr>
              </a:gs>
              <a:gs pos="100000">
                <a:schemeClr val="accent2">
                  <a:tint val="15000"/>
                  <a:satMod val="350000"/>
                </a:schemeClr>
              </a:gs>
            </a:gsLst>
            <a:lin ang="16200000" scaled="1"/>
          </a:gradFill>
          <a:ln w="15875" cap="rnd" cmpd="sng" algn="ctr">
            <a:solidFill>
              <a:schemeClr val="accent6"/>
            </a:solidFill>
            <a:rou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c:spPr>
        <c:marker>
          <c:symbol val="circle"/>
          <c:size val="5"/>
          <c:spPr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6">
                  <a:shade val="95000"/>
                </a:schemeClr>
              </a:solidFill>
              <a:rou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c:spPr>
        </c:marker>
      </c:pivotFmt>
      <c:pivotFmt>
        <c:idx val="42"/>
        <c:spPr>
          <a:gradFill rotWithShape="1">
            <a:gsLst>
              <a:gs pos="0">
                <a:schemeClr val="accent2">
                  <a:tint val="50000"/>
                  <a:satMod val="300000"/>
                </a:schemeClr>
              </a:gs>
              <a:gs pos="35000">
                <a:schemeClr val="accent2">
                  <a:tint val="37000"/>
                  <a:satMod val="300000"/>
                </a:schemeClr>
              </a:gs>
              <a:gs pos="100000">
                <a:schemeClr val="accent2">
                  <a:tint val="15000"/>
                  <a:satMod val="350000"/>
                </a:schemeClr>
              </a:gs>
            </a:gsLst>
            <a:lin ang="16200000" scaled="1"/>
          </a:gradFill>
          <a:ln w="15875" cap="rnd" cmpd="sng" algn="ctr">
            <a:solidFill>
              <a:schemeClr val="accent6"/>
            </a:solidFill>
            <a:rou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c:spPr>
        <c:marker>
          <c:symbol val="circle"/>
          <c:size val="5"/>
          <c:spPr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6">
                  <a:shade val="95000"/>
                </a:schemeClr>
              </a:solidFill>
              <a:rou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c:spPr>
        </c:marker>
      </c:pivotFmt>
      <c:pivotFmt>
        <c:idx val="43"/>
        <c:spPr>
          <a:gradFill rotWithShape="1">
            <a:gsLst>
              <a:gs pos="0">
                <a:schemeClr val="accent2">
                  <a:tint val="50000"/>
                  <a:satMod val="300000"/>
                </a:schemeClr>
              </a:gs>
              <a:gs pos="35000">
                <a:schemeClr val="accent2">
                  <a:tint val="37000"/>
                  <a:satMod val="300000"/>
                </a:schemeClr>
              </a:gs>
              <a:gs pos="100000">
                <a:schemeClr val="accent2">
                  <a:tint val="15000"/>
                  <a:satMod val="350000"/>
                </a:schemeClr>
              </a:gs>
            </a:gsLst>
            <a:lin ang="16200000" scaled="1"/>
          </a:gradFill>
          <a:ln w="15875" cap="rnd" cmpd="sng" algn="ctr">
            <a:solidFill>
              <a:schemeClr val="accent6"/>
            </a:solidFill>
            <a:rou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c:spPr>
        <c:marker>
          <c:symbol val="circle"/>
          <c:size val="5"/>
          <c:spPr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6">
                  <a:shade val="95000"/>
                </a:schemeClr>
              </a:solidFill>
              <a:rou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c:spPr>
        </c:marker>
      </c:pivotFmt>
      <c:pivotFmt>
        <c:idx val="44"/>
        <c:spPr>
          <a:gradFill rotWithShape="1">
            <a:gsLst>
              <a:gs pos="0">
                <a:schemeClr val="accent2">
                  <a:tint val="50000"/>
                  <a:satMod val="300000"/>
                </a:schemeClr>
              </a:gs>
              <a:gs pos="35000">
                <a:schemeClr val="accent2">
                  <a:tint val="37000"/>
                  <a:satMod val="300000"/>
                </a:schemeClr>
              </a:gs>
              <a:gs pos="100000">
                <a:schemeClr val="accent2">
                  <a:tint val="15000"/>
                  <a:satMod val="350000"/>
                </a:schemeClr>
              </a:gs>
            </a:gsLst>
            <a:lin ang="16200000" scaled="1"/>
          </a:gradFill>
          <a:ln w="9525" cap="flat" cmpd="sng" algn="ctr">
            <a:solidFill>
              <a:schemeClr val="accent2">
                <a:shade val="95000"/>
              </a:schemeClr>
            </a:solidFill>
            <a:rou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5"/>
        <c:spPr>
          <a:gradFill rotWithShape="1">
            <a:gsLst>
              <a:gs pos="0">
                <a:schemeClr val="accent2">
                  <a:tint val="50000"/>
                  <a:satMod val="300000"/>
                </a:schemeClr>
              </a:gs>
              <a:gs pos="35000">
                <a:schemeClr val="accent2">
                  <a:tint val="37000"/>
                  <a:satMod val="300000"/>
                </a:schemeClr>
              </a:gs>
              <a:gs pos="100000">
                <a:schemeClr val="accent2">
                  <a:tint val="15000"/>
                  <a:satMod val="350000"/>
                </a:schemeClr>
              </a:gs>
            </a:gsLst>
            <a:lin ang="16200000" scaled="1"/>
          </a:gradFill>
          <a:ln w="9525" cap="flat" cmpd="sng" algn="ctr">
            <a:solidFill>
              <a:schemeClr val="accent2">
                <a:shade val="95000"/>
              </a:schemeClr>
            </a:solidFill>
            <a:rou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6"/>
        <c:spPr>
          <a:gradFill rotWithShape="1">
            <a:gsLst>
              <a:gs pos="0">
                <a:schemeClr val="accent2">
                  <a:tint val="50000"/>
                  <a:satMod val="300000"/>
                </a:schemeClr>
              </a:gs>
              <a:gs pos="35000">
                <a:schemeClr val="accent2">
                  <a:tint val="37000"/>
                  <a:satMod val="300000"/>
                </a:schemeClr>
              </a:gs>
              <a:gs pos="100000">
                <a:schemeClr val="accent2">
                  <a:tint val="15000"/>
                  <a:satMod val="350000"/>
                </a:schemeClr>
              </a:gs>
            </a:gsLst>
            <a:lin ang="16200000" scaled="1"/>
          </a:gradFill>
          <a:ln w="9525" cap="flat" cmpd="sng" algn="ctr">
            <a:solidFill>
              <a:schemeClr val="accent2">
                <a:shade val="95000"/>
              </a:schemeClr>
            </a:solidFill>
            <a:rou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7"/>
        <c:spPr>
          <a:gradFill rotWithShape="1">
            <a:gsLst>
              <a:gs pos="0">
                <a:schemeClr val="accent2">
                  <a:tint val="50000"/>
                  <a:satMod val="300000"/>
                </a:schemeClr>
              </a:gs>
              <a:gs pos="35000">
                <a:schemeClr val="accent2">
                  <a:tint val="37000"/>
                  <a:satMod val="300000"/>
                </a:schemeClr>
              </a:gs>
              <a:gs pos="100000">
                <a:schemeClr val="accent2">
                  <a:tint val="15000"/>
                  <a:satMod val="350000"/>
                </a:schemeClr>
              </a:gs>
            </a:gsLst>
            <a:lin ang="16200000" scaled="1"/>
          </a:gradFill>
          <a:ln w="15875" cap="rnd" cmpd="sng" algn="ctr">
            <a:solidFill>
              <a:schemeClr val="accent2"/>
            </a:solidFill>
            <a:rou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c:spPr>
        <c:marker>
          <c:symbol val="circle"/>
          <c:size val="5"/>
          <c:spPr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2">
                  <a:shade val="95000"/>
                </a:schemeClr>
              </a:solidFill>
              <a:rou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c:spPr>
        </c:marker>
      </c:pivotFmt>
      <c:pivotFmt>
        <c:idx val="48"/>
        <c:spPr>
          <a:gradFill rotWithShape="1">
            <a:gsLst>
              <a:gs pos="0">
                <a:schemeClr val="accent2">
                  <a:tint val="50000"/>
                  <a:satMod val="300000"/>
                </a:schemeClr>
              </a:gs>
              <a:gs pos="35000">
                <a:schemeClr val="accent2">
                  <a:tint val="37000"/>
                  <a:satMod val="300000"/>
                </a:schemeClr>
              </a:gs>
              <a:gs pos="100000">
                <a:schemeClr val="accent2">
                  <a:tint val="15000"/>
                  <a:satMod val="350000"/>
                </a:schemeClr>
              </a:gs>
            </a:gsLst>
            <a:lin ang="16200000" scaled="1"/>
          </a:gradFill>
          <a:ln w="15875" cap="rnd" cmpd="sng" algn="ctr">
            <a:solidFill>
              <a:schemeClr val="accent2"/>
            </a:solidFill>
            <a:rou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c:spPr>
        <c:marker>
          <c:symbol val="circle"/>
          <c:size val="5"/>
          <c:spPr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2">
                  <a:shade val="95000"/>
                </a:schemeClr>
              </a:solidFill>
              <a:rou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c:spPr>
        </c:marker>
      </c:pivotFmt>
      <c:pivotFmt>
        <c:idx val="49"/>
        <c:spPr>
          <a:gradFill rotWithShape="1">
            <a:gsLst>
              <a:gs pos="0">
                <a:schemeClr val="accent2">
                  <a:tint val="50000"/>
                  <a:satMod val="300000"/>
                </a:schemeClr>
              </a:gs>
              <a:gs pos="35000">
                <a:schemeClr val="accent2">
                  <a:tint val="37000"/>
                  <a:satMod val="300000"/>
                </a:schemeClr>
              </a:gs>
              <a:gs pos="100000">
                <a:schemeClr val="accent2">
                  <a:tint val="15000"/>
                  <a:satMod val="350000"/>
                </a:schemeClr>
              </a:gs>
            </a:gsLst>
            <a:lin ang="16200000" scaled="1"/>
          </a:gradFill>
          <a:ln w="15875" cap="rnd" cmpd="sng" algn="ctr">
            <a:solidFill>
              <a:schemeClr val="accent2"/>
            </a:solidFill>
            <a:rou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c:spPr>
        <c:marker>
          <c:symbol val="circle"/>
          <c:size val="5"/>
          <c:spPr>
            <a:solidFill>
              <a:schemeClr val="tx2">
                <a:lumMod val="75000"/>
              </a:schemeClr>
            </a:solidFill>
            <a:ln w="9525" cap="flat" cmpd="sng" algn="ctr">
              <a:solidFill>
                <a:schemeClr val="accent2">
                  <a:shade val="95000"/>
                </a:schemeClr>
              </a:solidFill>
              <a:rou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c:spPr>
        </c:marker>
      </c:pivotFmt>
      <c:pivotFmt>
        <c:idx val="50"/>
        <c:spPr>
          <a:gradFill rotWithShape="1">
            <a:gsLst>
              <a:gs pos="0">
                <a:schemeClr val="accent2">
                  <a:tint val="50000"/>
                  <a:satMod val="300000"/>
                </a:schemeClr>
              </a:gs>
              <a:gs pos="35000">
                <a:schemeClr val="accent2">
                  <a:tint val="37000"/>
                  <a:satMod val="300000"/>
                </a:schemeClr>
              </a:gs>
              <a:gs pos="100000">
                <a:schemeClr val="accent2">
                  <a:tint val="15000"/>
                  <a:satMod val="350000"/>
                </a:schemeClr>
              </a:gs>
            </a:gsLst>
            <a:lin ang="16200000" scaled="1"/>
          </a:gradFill>
          <a:ln w="9525" cap="flat" cmpd="sng" algn="ctr">
            <a:solidFill>
              <a:schemeClr val="accent2">
                <a:shade val="95000"/>
              </a:schemeClr>
            </a:solidFill>
            <a:rou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1"/>
        <c:spPr>
          <a:gradFill rotWithShape="1">
            <a:gsLst>
              <a:gs pos="0">
                <a:schemeClr val="accent2">
                  <a:tint val="50000"/>
                  <a:satMod val="300000"/>
                </a:schemeClr>
              </a:gs>
              <a:gs pos="35000">
                <a:schemeClr val="accent2">
                  <a:tint val="37000"/>
                  <a:satMod val="300000"/>
                </a:schemeClr>
              </a:gs>
              <a:gs pos="100000">
                <a:schemeClr val="accent2">
                  <a:tint val="15000"/>
                  <a:satMod val="350000"/>
                </a:schemeClr>
              </a:gs>
            </a:gsLst>
            <a:lin ang="16200000" scaled="1"/>
          </a:gradFill>
          <a:ln w="9525" cap="flat" cmpd="sng" algn="ctr">
            <a:solidFill>
              <a:schemeClr val="accent2">
                <a:shade val="95000"/>
              </a:schemeClr>
            </a:solidFill>
            <a:rou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2"/>
        <c:spPr>
          <a:gradFill rotWithShape="1">
            <a:gsLst>
              <a:gs pos="0">
                <a:schemeClr val="accent2">
                  <a:tint val="50000"/>
                  <a:satMod val="300000"/>
                </a:schemeClr>
              </a:gs>
              <a:gs pos="35000">
                <a:schemeClr val="accent2">
                  <a:tint val="37000"/>
                  <a:satMod val="300000"/>
                </a:schemeClr>
              </a:gs>
              <a:gs pos="100000">
                <a:schemeClr val="accent2">
                  <a:tint val="15000"/>
                  <a:satMod val="350000"/>
                </a:schemeClr>
              </a:gs>
            </a:gsLst>
            <a:lin ang="16200000" scaled="1"/>
          </a:gradFill>
          <a:ln w="9525" cap="flat" cmpd="sng" algn="ctr">
            <a:solidFill>
              <a:schemeClr val="accent2">
                <a:shade val="95000"/>
              </a:schemeClr>
            </a:solidFill>
            <a:rou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3"/>
        <c:spPr>
          <a:gradFill rotWithShape="1">
            <a:gsLst>
              <a:gs pos="0">
                <a:schemeClr val="accent2">
                  <a:tint val="50000"/>
                  <a:satMod val="300000"/>
                </a:schemeClr>
              </a:gs>
              <a:gs pos="35000">
                <a:schemeClr val="accent2">
                  <a:tint val="37000"/>
                  <a:satMod val="300000"/>
                </a:schemeClr>
              </a:gs>
              <a:gs pos="100000">
                <a:schemeClr val="accent2">
                  <a:tint val="15000"/>
                  <a:satMod val="350000"/>
                </a:schemeClr>
              </a:gs>
            </a:gsLst>
            <a:lin ang="16200000" scaled="1"/>
          </a:gradFill>
          <a:ln w="9525" cap="flat" cmpd="sng" algn="ctr">
            <a:solidFill>
              <a:schemeClr val="accent2">
                <a:shade val="95000"/>
              </a:schemeClr>
            </a:solidFill>
            <a:rou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4"/>
        <c:spPr>
          <a:gradFill rotWithShape="1">
            <a:gsLst>
              <a:gs pos="0">
                <a:schemeClr val="accent2">
                  <a:tint val="50000"/>
                  <a:satMod val="300000"/>
                </a:schemeClr>
              </a:gs>
              <a:gs pos="35000">
                <a:schemeClr val="accent2">
                  <a:tint val="37000"/>
                  <a:satMod val="300000"/>
                </a:schemeClr>
              </a:gs>
              <a:gs pos="100000">
                <a:schemeClr val="accent2">
                  <a:tint val="15000"/>
                  <a:satMod val="350000"/>
                </a:schemeClr>
              </a:gs>
            </a:gsLst>
            <a:lin ang="16200000" scaled="1"/>
          </a:gradFill>
          <a:ln w="9525" cap="flat" cmpd="sng" algn="ctr">
            <a:solidFill>
              <a:schemeClr val="accent2">
                <a:shade val="95000"/>
              </a:schemeClr>
            </a:solidFill>
            <a:rou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5"/>
        <c:spPr>
          <a:gradFill rotWithShape="1">
            <a:gsLst>
              <a:gs pos="0">
                <a:schemeClr val="accent2">
                  <a:tint val="50000"/>
                  <a:satMod val="300000"/>
                </a:schemeClr>
              </a:gs>
              <a:gs pos="35000">
                <a:schemeClr val="accent2">
                  <a:tint val="37000"/>
                  <a:satMod val="300000"/>
                </a:schemeClr>
              </a:gs>
              <a:gs pos="100000">
                <a:schemeClr val="accent2">
                  <a:tint val="15000"/>
                  <a:satMod val="350000"/>
                </a:schemeClr>
              </a:gs>
            </a:gsLst>
            <a:lin ang="16200000" scaled="1"/>
          </a:gradFill>
          <a:ln w="9525" cap="flat" cmpd="sng" algn="ctr">
            <a:solidFill>
              <a:schemeClr val="accent2">
                <a:shade val="95000"/>
              </a:schemeClr>
            </a:solidFill>
            <a:rou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6.5858259181512918E-2"/>
          <c:y val="0.20268323735843297"/>
          <c:w val="0.85185018456829031"/>
          <c:h val="0.6412500987897310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Analysis!$B$3</c:f>
              <c:strCache>
                <c:ptCount val="1"/>
                <c:pt idx="0">
                  <c:v>Sum of Produced Qty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tint val="50000"/>
                    <a:satMod val="300000"/>
                  </a:schemeClr>
                </a:gs>
                <a:gs pos="35000">
                  <a:schemeClr val="accent2">
                    <a:tint val="37000"/>
                    <a:satMod val="300000"/>
                  </a:schemeClr>
                </a:gs>
                <a:gs pos="100000">
                  <a:schemeClr val="accent2">
                    <a:tint val="15000"/>
                    <a:satMod val="350000"/>
                  </a:schemeClr>
                </a:gs>
              </a:gsLst>
              <a:lin ang="16200000" scaled="1"/>
            </a:gradFill>
            <a:ln w="9525" cap="flat" cmpd="sng" algn="ctr">
              <a:solidFill>
                <a:schemeClr val="accent2">
                  <a:shade val="95000"/>
                </a:schemeClr>
              </a:solidFill>
              <a:rou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c:spPr>
          <c:invertIfNegative val="0"/>
          <c:cat>
            <c:strRef>
              <c:f>Analysis!$A$4</c:f>
              <c:strCache>
                <c:ptCount val="1"/>
                <c:pt idx="0">
                  <c:v>Aug</c:v>
                </c:pt>
              </c:strCache>
            </c:strRef>
          </c:cat>
          <c:val>
            <c:numRef>
              <c:f>Analysis!$B$4</c:f>
              <c:numCache>
                <c:formatCode>General</c:formatCode>
                <c:ptCount val="1"/>
                <c:pt idx="0">
                  <c:v>1354349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D7D-4216-A25D-71FA27BFB57B}"/>
            </c:ext>
          </c:extLst>
        </c:ser>
        <c:ser>
          <c:idx val="1"/>
          <c:order val="1"/>
          <c:tx>
            <c:strRef>
              <c:f>Analysis!$C$3</c:f>
              <c:strCache>
                <c:ptCount val="1"/>
                <c:pt idx="0">
                  <c:v>Sum of Rejected Qty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tint val="50000"/>
                    <a:satMod val="300000"/>
                  </a:schemeClr>
                </a:gs>
                <a:gs pos="35000">
                  <a:schemeClr val="accent4">
                    <a:tint val="37000"/>
                    <a:satMod val="300000"/>
                  </a:schemeClr>
                </a:gs>
                <a:gs pos="100000">
                  <a:schemeClr val="accent4">
                    <a:tint val="15000"/>
                    <a:satMod val="350000"/>
                  </a:schemeClr>
                </a:gs>
              </a:gsLst>
              <a:lin ang="16200000" scaled="1"/>
            </a:gradFill>
            <a:ln w="9525" cap="flat" cmpd="sng" algn="ctr">
              <a:solidFill>
                <a:schemeClr val="accent4">
                  <a:shade val="95000"/>
                </a:schemeClr>
              </a:solidFill>
              <a:rou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c:spPr>
          <c:invertIfNegative val="0"/>
          <c:cat>
            <c:strRef>
              <c:f>Analysis!$A$4</c:f>
              <c:strCache>
                <c:ptCount val="1"/>
                <c:pt idx="0">
                  <c:v>Aug</c:v>
                </c:pt>
              </c:strCache>
            </c:strRef>
          </c:cat>
          <c:val>
            <c:numRef>
              <c:f>Analysis!$C$4</c:f>
              <c:numCache>
                <c:formatCode>General</c:formatCode>
                <c:ptCount val="1"/>
                <c:pt idx="0">
                  <c:v>10590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D7D-4216-A25D-71FA27BFB57B}"/>
            </c:ext>
          </c:extLst>
        </c:ser>
        <c:ser>
          <c:idx val="2"/>
          <c:order val="2"/>
          <c:tx>
            <c:strRef>
              <c:f>Analysis!$D$3</c:f>
              <c:strCache>
                <c:ptCount val="1"/>
                <c:pt idx="0">
                  <c:v> Rejected %</c:v>
                </c:pt>
              </c:strCache>
            </c:strRef>
          </c:tx>
          <c:spPr>
            <a:gradFill rotWithShape="1">
              <a:gsLst>
                <a:gs pos="0">
                  <a:schemeClr val="accent6">
                    <a:tint val="50000"/>
                    <a:satMod val="300000"/>
                  </a:schemeClr>
                </a:gs>
                <a:gs pos="35000">
                  <a:schemeClr val="accent6">
                    <a:tint val="37000"/>
                    <a:satMod val="300000"/>
                  </a:schemeClr>
                </a:gs>
                <a:gs pos="100000">
                  <a:schemeClr val="accent6">
                    <a:tint val="15000"/>
                    <a:satMod val="350000"/>
                  </a:schemeClr>
                </a:gs>
              </a:gsLst>
              <a:lin ang="16200000" scaled="1"/>
            </a:gradFill>
            <a:ln w="9525" cap="flat" cmpd="sng" algn="ctr">
              <a:solidFill>
                <a:schemeClr val="accent6">
                  <a:shade val="95000"/>
                </a:schemeClr>
              </a:solidFill>
              <a:rou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c:spPr>
          <c:invertIfNegative val="0"/>
          <c:cat>
            <c:strRef>
              <c:f>Analysis!$A$4</c:f>
              <c:strCache>
                <c:ptCount val="1"/>
                <c:pt idx="0">
                  <c:v>Aug</c:v>
                </c:pt>
              </c:strCache>
            </c:strRef>
          </c:cat>
          <c:val>
            <c:numRef>
              <c:f>Analysis!$D$4</c:f>
              <c:numCache>
                <c:formatCode>0.00%</c:formatCode>
                <c:ptCount val="1"/>
                <c:pt idx="0">
                  <c:v>7.819254859714889E-3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4D7D-4216-A25D-71FA27BFB5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9"/>
        <c:overlap val="1"/>
        <c:axId val="1182200896"/>
        <c:axId val="1182206176"/>
      </c:barChart>
      <c:catAx>
        <c:axId val="118220089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cap="all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2015</a:t>
                </a:r>
              </a:p>
            </c:rich>
          </c:tx>
          <c:layout>
            <c:manualLayout>
              <c:xMode val="edge"/>
              <c:yMode val="edge"/>
              <c:x val="0.40544826590850569"/>
              <c:y val="0.90815184086754375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cap="all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AI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AI"/>
          </a:p>
        </c:txPr>
        <c:crossAx val="1182206176"/>
        <c:crosses val="autoZero"/>
        <c:auto val="1"/>
        <c:lblAlgn val="ctr"/>
        <c:lblOffset val="100"/>
        <c:noMultiLvlLbl val="0"/>
      </c:catAx>
      <c:valAx>
        <c:axId val="118220617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AI"/>
          </a:p>
        </c:txPr>
        <c:crossAx val="11822008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14094398414424594"/>
          <c:y val="0.1160262393761296"/>
          <c:w val="0.75153944790004701"/>
          <c:h val="5.169581147365073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AI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accent6">
          <a:lumMod val="75000"/>
        </a:schemeClr>
      </a:solidFill>
      <a:round/>
    </a:ln>
    <a:effectLst/>
  </c:spPr>
  <c:txPr>
    <a:bodyPr/>
    <a:lstStyle/>
    <a:p>
      <a:pPr>
        <a:defRPr/>
      </a:pPr>
      <a:endParaRPr lang="en-AI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pivotSource>
    <c:name>[Dashboard (1).xlsx]Analysis!PivotTable1</c:name>
    <c:fmtId val="3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b="1"/>
              <a:t>Department wise Manufactured vs Rejected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AI"/>
        </a:p>
      </c:txPr>
    </c:title>
    <c:autoTitleDeleted val="0"/>
    <c:pivotFmts>
      <c:pivotFmt>
        <c:idx val="0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2"/>
          </a:solidFill>
          <a:ln w="25400"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2"/>
          </a:solidFill>
          <a:ln w="25400"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2"/>
          </a:solidFill>
          <a:ln w="25400"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Analysis!$B$21</c:f>
              <c:strCache>
                <c:ptCount val="1"/>
                <c:pt idx="0">
                  <c:v>Sum of Produced Qty</c:v>
                </c:pt>
              </c:strCache>
            </c:strRef>
          </c:tx>
          <c:spPr>
            <a:solidFill>
              <a:schemeClr val="accent2">
                <a:tint val="77000"/>
              </a:schemeClr>
            </a:solidFill>
            <a:ln>
              <a:noFill/>
            </a:ln>
            <a:effectLst/>
          </c:spPr>
          <c:invertIfNegative val="0"/>
          <c:cat>
            <c:strRef>
              <c:f>Analysis!$A$22</c:f>
              <c:strCache>
                <c:ptCount val="1"/>
                <c:pt idx="0">
                  <c:v>Knitwear</c:v>
                </c:pt>
              </c:strCache>
            </c:strRef>
          </c:cat>
          <c:val>
            <c:numRef>
              <c:f>Analysis!$B$22</c:f>
              <c:numCache>
                <c:formatCode>General</c:formatCode>
                <c:ptCount val="1"/>
                <c:pt idx="0">
                  <c:v>1354349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4F9-4578-A551-2923FA4D65D0}"/>
            </c:ext>
          </c:extLst>
        </c:ser>
        <c:ser>
          <c:idx val="1"/>
          <c:order val="1"/>
          <c:tx>
            <c:strRef>
              <c:f>Analysis!$C$21</c:f>
              <c:strCache>
                <c:ptCount val="1"/>
                <c:pt idx="0">
                  <c:v>Sum of Rejected Qty</c:v>
                </c:pt>
              </c:strCache>
            </c:strRef>
          </c:tx>
          <c:spPr>
            <a:solidFill>
              <a:schemeClr val="accent2">
                <a:shade val="76000"/>
              </a:schemeClr>
            </a:solidFill>
            <a:ln>
              <a:noFill/>
            </a:ln>
            <a:effectLst/>
          </c:spPr>
          <c:invertIfNegative val="0"/>
          <c:cat>
            <c:strRef>
              <c:f>Analysis!$A$22</c:f>
              <c:strCache>
                <c:ptCount val="1"/>
                <c:pt idx="0">
                  <c:v>Knitwear</c:v>
                </c:pt>
              </c:strCache>
            </c:strRef>
          </c:cat>
          <c:val>
            <c:numRef>
              <c:f>Analysis!$C$22</c:f>
              <c:numCache>
                <c:formatCode>General</c:formatCode>
                <c:ptCount val="1"/>
                <c:pt idx="0">
                  <c:v>10590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4F9-4578-A551-2923FA4D65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381395552"/>
        <c:axId val="381400352"/>
      </c:barChart>
      <c:catAx>
        <c:axId val="38139555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b="1"/>
                  <a:t>Department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AI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AI"/>
          </a:p>
        </c:txPr>
        <c:crossAx val="381400352"/>
        <c:crosses val="autoZero"/>
        <c:auto val="1"/>
        <c:lblAlgn val="ctr"/>
        <c:lblOffset val="100"/>
        <c:noMultiLvlLbl val="0"/>
      </c:catAx>
      <c:valAx>
        <c:axId val="381400352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b="1"/>
                  <a:t>Produced Qty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AI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AI"/>
          </a:p>
        </c:txPr>
        <c:crossAx val="3813955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AI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19050" cap="flat" cmpd="sng" algn="ctr">
      <a:solidFill>
        <a:schemeClr val="tx1"/>
      </a:solidFill>
      <a:round/>
    </a:ln>
    <a:effectLst/>
  </c:spPr>
  <c:txPr>
    <a:bodyPr/>
    <a:lstStyle/>
    <a:p>
      <a:pPr>
        <a:defRPr/>
      </a:pPr>
      <a:endParaRPr lang="en-AI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080" b="1" i="0" u="none" strike="noStrike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Production Growth Trend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080" b="1" i="0" u="none" strike="noStrike" kern="1200" baseline="0">
              <a:solidFill>
                <a:schemeClr val="tx2">
                  <a:lumMod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 w="34925" cap="rnd">
            <a:solidFill>
              <a:srgbClr val="002060"/>
            </a:solidFill>
            <a:rou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 w="9525">
              <a:solidFill>
                <a:srgbClr val="002060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1" i="0" u="none" strike="noStrike" kern="1200" baseline="0">
                  <a:solidFill>
                    <a:schemeClr val="tx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 w="34925" cap="rnd">
            <a:solidFill>
              <a:srgbClr val="002060"/>
            </a:solidFill>
            <a:rou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 w="9525">
              <a:solidFill>
                <a:srgbClr val="002060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layout>
            <c:manualLayout>
              <c:x val="-3.511753876799615E-2"/>
              <c:y val="5.559018664333616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1" i="0" u="none" strike="noStrike" kern="1200" baseline="0">
                  <a:solidFill>
                    <a:schemeClr val="tx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 w="34925" cap="rnd">
            <a:solidFill>
              <a:srgbClr val="002060"/>
            </a:solidFill>
            <a:rou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 w="9525">
              <a:solidFill>
                <a:srgbClr val="002060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layout>
            <c:manualLayout>
              <c:x val="-1.3296160685980839E-3"/>
              <c:y val="-6.940981335666375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1" i="0" u="none" strike="noStrike" kern="1200" baseline="0">
                  <a:solidFill>
                    <a:schemeClr val="tx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 w="34925" cap="rnd">
            <a:solidFill>
              <a:srgbClr val="002060"/>
            </a:solidFill>
            <a:rou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 w="9525">
              <a:solidFill>
                <a:srgbClr val="002060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layout>
            <c:manualLayout>
              <c:x val="-2.4749472412371534E-2"/>
              <c:y val="6.94790755322251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1" i="0" u="none" strike="noStrike" kern="1200" baseline="0">
                  <a:solidFill>
                    <a:schemeClr val="tx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 w="34925" cap="rnd">
            <a:solidFill>
              <a:srgbClr val="002060"/>
            </a:solidFill>
            <a:rou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 w="9525">
              <a:solidFill>
                <a:srgbClr val="002060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layout>
            <c:manualLayout>
              <c:x val="-4.0301571945808481E-2"/>
              <c:y val="6.484944590259550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1" i="0" u="none" strike="noStrike" kern="1200" baseline="0">
                  <a:solidFill>
                    <a:schemeClr val="tx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 w="34925" cap="rnd">
            <a:solidFill>
              <a:srgbClr val="002060"/>
            </a:solidFill>
            <a:rou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 w="9525">
              <a:solidFill>
                <a:srgbClr val="002060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layout>
            <c:manualLayout>
              <c:x val="-3.511753876799615E-2"/>
              <c:y val="5.559018664333616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1" i="0" u="none" strike="noStrike" kern="1200" baseline="0">
                  <a:solidFill>
                    <a:schemeClr val="tx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 w="34925" cap="rnd">
            <a:solidFill>
              <a:srgbClr val="002060"/>
            </a:solidFill>
            <a:rou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 w="9525">
              <a:solidFill>
                <a:srgbClr val="002060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1" i="0" u="none" strike="noStrike" kern="1200" baseline="0">
                  <a:solidFill>
                    <a:schemeClr val="tx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 w="34925" cap="rnd">
            <a:solidFill>
              <a:srgbClr val="002060"/>
            </a:solidFill>
            <a:rou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 w="9525">
              <a:solidFill>
                <a:srgbClr val="002060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layout>
            <c:manualLayout>
              <c:x val="-3.511753876799615E-2"/>
              <c:y val="5.559018664333616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1" i="0" u="none" strike="noStrike" kern="1200" baseline="0">
                  <a:solidFill>
                    <a:schemeClr val="tx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 w="34925" cap="rnd">
            <a:solidFill>
              <a:srgbClr val="002060"/>
            </a:solidFill>
            <a:rou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 w="9525">
              <a:solidFill>
                <a:srgbClr val="002060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layout>
            <c:manualLayout>
              <c:x val="-4.0301571945808481E-2"/>
              <c:y val="6.484944590259550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1" i="0" u="none" strike="noStrike" kern="1200" baseline="0">
                  <a:solidFill>
                    <a:schemeClr val="tx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 w="34925" cap="rnd">
            <a:solidFill>
              <a:srgbClr val="002060"/>
            </a:solidFill>
            <a:rou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 w="9525">
              <a:solidFill>
                <a:srgbClr val="002060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layout>
            <c:manualLayout>
              <c:x val="-2.4749472412371534E-2"/>
              <c:y val="6.94790755322251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1" i="0" u="none" strike="noStrike" kern="1200" baseline="0">
                  <a:solidFill>
                    <a:schemeClr val="tx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 w="34925" cap="rnd">
            <a:solidFill>
              <a:srgbClr val="002060"/>
            </a:solidFill>
            <a:rou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 w="9525">
              <a:solidFill>
                <a:srgbClr val="002060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layout>
            <c:manualLayout>
              <c:x val="-3.511753876799615E-2"/>
              <c:y val="5.559018664333616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1" i="0" u="none" strike="noStrike" kern="1200" baseline="0">
                  <a:solidFill>
                    <a:schemeClr val="tx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 w="34925" cap="rnd">
            <a:solidFill>
              <a:srgbClr val="002060"/>
            </a:solidFill>
            <a:rou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 w="9525">
              <a:solidFill>
                <a:srgbClr val="002060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layout>
            <c:manualLayout>
              <c:x val="-1.3296160685980839E-3"/>
              <c:y val="-6.940981335666375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1" i="0" u="none" strike="noStrike" kern="1200" baseline="0">
                  <a:solidFill>
                    <a:schemeClr val="tx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v>Total</c:v>
          </c:tx>
          <c:spPr>
            <a:ln w="34925" cap="rnd">
              <a:solidFill>
                <a:srgbClr val="002060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1">
                      <a:shade val="51000"/>
                      <a:satMod val="130000"/>
                    </a:schemeClr>
                  </a:gs>
                  <a:gs pos="80000">
                    <a:schemeClr val="accent1">
                      <a:shade val="93000"/>
                      <a:satMod val="130000"/>
                    </a:schemeClr>
                  </a:gs>
                  <a:gs pos="100000">
                    <a:schemeClr val="accent1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 w="9525">
                <a:solidFill>
                  <a:srgbClr val="002060"/>
                </a:solidFill>
                <a:round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marker>
          <c:dPt>
            <c:idx val="1"/>
            <c:marker>
              <c:symbol val="circle"/>
              <c:size val="6"/>
              <c:spPr>
                <a:gradFill rotWithShape="1">
                  <a:gsLst>
                    <a:gs pos="0">
                      <a:schemeClr val="accent1">
                        <a:shade val="51000"/>
                        <a:satMod val="130000"/>
                      </a:schemeClr>
                    </a:gs>
                    <a:gs pos="80000">
                      <a:schemeClr val="accent1">
                        <a:shade val="93000"/>
                        <a:satMod val="130000"/>
                      </a:schemeClr>
                    </a:gs>
                    <a:gs pos="100000">
                      <a:schemeClr val="accent1">
                        <a:shade val="94000"/>
                        <a:satMod val="135000"/>
                      </a:schemeClr>
                    </a:gs>
                  </a:gsLst>
                  <a:lin ang="16200000" scaled="0"/>
                </a:gradFill>
                <a:ln w="9525">
                  <a:solidFill>
                    <a:srgbClr val="002060"/>
                  </a:solidFill>
                  <a:round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threePt" dir="t">
                    <a:rot lat="0" lon="0" rev="1200000"/>
                  </a:lightRig>
                </a:scene3d>
                <a:sp3d>
                  <a:bevelT w="63500" h="25400"/>
                </a:sp3d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BD75-4E6D-96F3-81520F83A867}"/>
              </c:ext>
            </c:extLst>
          </c:dPt>
          <c:dPt>
            <c:idx val="4"/>
            <c:marker>
              <c:symbol val="circle"/>
              <c:size val="6"/>
              <c:spPr>
                <a:gradFill rotWithShape="1">
                  <a:gsLst>
                    <a:gs pos="0">
                      <a:schemeClr val="accent1">
                        <a:shade val="51000"/>
                        <a:satMod val="130000"/>
                      </a:schemeClr>
                    </a:gs>
                    <a:gs pos="80000">
                      <a:schemeClr val="accent1">
                        <a:shade val="93000"/>
                        <a:satMod val="130000"/>
                      </a:schemeClr>
                    </a:gs>
                    <a:gs pos="100000">
                      <a:schemeClr val="accent1">
                        <a:shade val="94000"/>
                        <a:satMod val="135000"/>
                      </a:schemeClr>
                    </a:gs>
                  </a:gsLst>
                  <a:lin ang="16200000" scaled="0"/>
                </a:gradFill>
                <a:ln w="9525">
                  <a:solidFill>
                    <a:srgbClr val="002060"/>
                  </a:solidFill>
                  <a:round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threePt" dir="t">
                    <a:rot lat="0" lon="0" rev="1200000"/>
                  </a:lightRig>
                </a:scene3d>
                <a:sp3d>
                  <a:bevelT w="63500" h="25400"/>
                </a:sp3d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BD75-4E6D-96F3-81520F83A867}"/>
              </c:ext>
            </c:extLst>
          </c:dPt>
          <c:dPt>
            <c:idx val="6"/>
            <c:marker>
              <c:symbol val="circle"/>
              <c:size val="6"/>
              <c:spPr>
                <a:gradFill rotWithShape="1">
                  <a:gsLst>
                    <a:gs pos="0">
                      <a:schemeClr val="accent1">
                        <a:shade val="51000"/>
                        <a:satMod val="130000"/>
                      </a:schemeClr>
                    </a:gs>
                    <a:gs pos="80000">
                      <a:schemeClr val="accent1">
                        <a:shade val="93000"/>
                        <a:satMod val="130000"/>
                      </a:schemeClr>
                    </a:gs>
                    <a:gs pos="100000">
                      <a:schemeClr val="accent1">
                        <a:shade val="94000"/>
                        <a:satMod val="135000"/>
                      </a:schemeClr>
                    </a:gs>
                  </a:gsLst>
                  <a:lin ang="16200000" scaled="0"/>
                </a:gradFill>
                <a:ln w="9525">
                  <a:solidFill>
                    <a:srgbClr val="002060"/>
                  </a:solidFill>
                  <a:round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threePt" dir="t">
                    <a:rot lat="0" lon="0" rev="1200000"/>
                  </a:lightRig>
                </a:scene3d>
                <a:sp3d>
                  <a:bevelT w="63500" h="25400"/>
                </a:sp3d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BD75-4E6D-96F3-81520F83A867}"/>
              </c:ext>
            </c:extLst>
          </c:dPt>
          <c:dPt>
            <c:idx val="8"/>
            <c:marker>
              <c:symbol val="circle"/>
              <c:size val="6"/>
              <c:spPr>
                <a:gradFill rotWithShape="1">
                  <a:gsLst>
                    <a:gs pos="0">
                      <a:schemeClr val="accent1">
                        <a:shade val="51000"/>
                        <a:satMod val="130000"/>
                      </a:schemeClr>
                    </a:gs>
                    <a:gs pos="80000">
                      <a:schemeClr val="accent1">
                        <a:shade val="93000"/>
                        <a:satMod val="130000"/>
                      </a:schemeClr>
                    </a:gs>
                    <a:gs pos="100000">
                      <a:schemeClr val="accent1">
                        <a:shade val="94000"/>
                        <a:satMod val="135000"/>
                      </a:schemeClr>
                    </a:gs>
                  </a:gsLst>
                  <a:lin ang="16200000" scaled="0"/>
                </a:gradFill>
                <a:ln w="9525">
                  <a:solidFill>
                    <a:srgbClr val="002060"/>
                  </a:solidFill>
                  <a:round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threePt" dir="t">
                    <a:rot lat="0" lon="0" rev="1200000"/>
                  </a:lightRig>
                </a:scene3d>
                <a:sp3d>
                  <a:bevelT w="63500" h="25400"/>
                </a:sp3d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BD75-4E6D-96F3-81520F83A867}"/>
              </c:ext>
            </c:extLst>
          </c:dPt>
          <c:dPt>
            <c:idx val="11"/>
            <c:marker>
              <c:symbol val="circle"/>
              <c:size val="6"/>
              <c:spPr>
                <a:gradFill rotWithShape="1">
                  <a:gsLst>
                    <a:gs pos="0">
                      <a:schemeClr val="accent1">
                        <a:shade val="51000"/>
                        <a:satMod val="130000"/>
                      </a:schemeClr>
                    </a:gs>
                    <a:gs pos="80000">
                      <a:schemeClr val="accent1">
                        <a:shade val="93000"/>
                        <a:satMod val="130000"/>
                      </a:schemeClr>
                    </a:gs>
                    <a:gs pos="100000">
                      <a:schemeClr val="accent1">
                        <a:shade val="94000"/>
                        <a:satMod val="135000"/>
                      </a:schemeClr>
                    </a:gs>
                  </a:gsLst>
                  <a:lin ang="16200000" scaled="0"/>
                </a:gradFill>
                <a:ln w="9525">
                  <a:solidFill>
                    <a:srgbClr val="002060"/>
                  </a:solidFill>
                  <a:round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threePt" dir="t">
                    <a:rot lat="0" lon="0" rev="1200000"/>
                  </a:lightRig>
                </a:scene3d>
                <a:sp3d>
                  <a:bevelT w="63500" h="25400"/>
                </a:sp3d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BD75-4E6D-96F3-81520F83A867}"/>
              </c:ext>
            </c:extLst>
          </c:dPt>
          <c:dLbls>
            <c:dLbl>
              <c:idx val="1"/>
              <c:layout>
                <c:manualLayout>
                  <c:x val="-3.511753876799615E-2"/>
                  <c:y val="5.559018664333616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BD75-4E6D-96F3-81520F83A867}"/>
                </c:ext>
              </c:extLst>
            </c:dLbl>
            <c:dLbl>
              <c:idx val="4"/>
              <c:layout>
                <c:manualLayout>
                  <c:x val="-4.0301571945808481E-2"/>
                  <c:y val="6.484944590259550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D75-4E6D-96F3-81520F83A867}"/>
                </c:ext>
              </c:extLst>
            </c:dLbl>
            <c:dLbl>
              <c:idx val="6"/>
              <c:layout>
                <c:manualLayout>
                  <c:x val="-2.4749472412371534E-2"/>
                  <c:y val="6.94790755322251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BD75-4E6D-96F3-81520F83A867}"/>
                </c:ext>
              </c:extLst>
            </c:dLbl>
            <c:dLbl>
              <c:idx val="8"/>
              <c:layout>
                <c:manualLayout>
                  <c:x val="-3.511753876799615E-2"/>
                  <c:y val="5.559018664333616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D75-4E6D-96F3-81520F83A867}"/>
                </c:ext>
              </c:extLst>
            </c:dLbl>
            <c:dLbl>
              <c:idx val="11"/>
              <c:layout>
                <c:manualLayout>
                  <c:x val="-1.3296160685980839E-3"/>
                  <c:y val="-6.940981335666375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BD75-4E6D-96F3-81520F83A86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1" i="0" u="none" strike="noStrike" kern="1200" baseline="0">
                    <a:solidFill>
                      <a:schemeClr val="tx2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12"/>
              <c:pt idx="0">
                <c:v>2015 Jan</c:v>
              </c:pt>
              <c:pt idx="1">
                <c:v>2015 Feb</c:v>
              </c:pt>
              <c:pt idx="2">
                <c:v>2015 Mar</c:v>
              </c:pt>
              <c:pt idx="3">
                <c:v>2015 Apr</c:v>
              </c:pt>
              <c:pt idx="4">
                <c:v>2015 May</c:v>
              </c:pt>
              <c:pt idx="5">
                <c:v>2015 Jun</c:v>
              </c:pt>
              <c:pt idx="6">
                <c:v>2015 Jul</c:v>
              </c:pt>
              <c:pt idx="7">
                <c:v>2015 Aug</c:v>
              </c:pt>
              <c:pt idx="8">
                <c:v>2015 Sep</c:v>
              </c:pt>
              <c:pt idx="9">
                <c:v>2015 Oct</c:v>
              </c:pt>
              <c:pt idx="10">
                <c:v>2015 Nov</c:v>
              </c:pt>
              <c:pt idx="11">
                <c:v>2015 Dec</c:v>
              </c:pt>
            </c:strLit>
          </c:cat>
          <c:val>
            <c:numLit>
              <c:formatCode>General</c:formatCode>
              <c:ptCount val="12"/>
              <c:pt idx="0">
                <c:v>9.6894240005824719E-3</c:v>
              </c:pt>
              <c:pt idx="1">
                <c:v>8.995768408380898E-3</c:v>
              </c:pt>
              <c:pt idx="2">
                <c:v>1.0078857457161233E-2</c:v>
              </c:pt>
              <c:pt idx="3">
                <c:v>9.7746282337846484E-3</c:v>
              </c:pt>
              <c:pt idx="4">
                <c:v>8.9974875769573606E-3</c:v>
              </c:pt>
              <c:pt idx="5">
                <c:v>9.0931324139265426E-3</c:v>
              </c:pt>
              <c:pt idx="6">
                <c:v>9.160155322886325E-3</c:v>
              </c:pt>
              <c:pt idx="7">
                <c:v>1.0088278811039523E-2</c:v>
              </c:pt>
              <c:pt idx="8">
                <c:v>8.9770130545915334E-3</c:v>
              </c:pt>
              <c:pt idx="9">
                <c:v>9.4399964642992284E-3</c:v>
              </c:pt>
              <c:pt idx="10">
                <c:v>9.8938562854756548E-3</c:v>
              </c:pt>
              <c:pt idx="11">
                <c:v>8.99903065340113E-3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5-BD75-4E6D-96F3-81520F83A8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7019312"/>
        <c:axId val="87016912"/>
      </c:lineChart>
      <c:catAx>
        <c:axId val="870193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1" i="0" u="none" strike="noStrike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7016912"/>
        <c:crosses val="autoZero"/>
        <c:auto val="1"/>
        <c:lblAlgn val="ctr"/>
        <c:lblOffset val="100"/>
        <c:noMultiLvlLbl val="0"/>
      </c:catAx>
      <c:valAx>
        <c:axId val="870169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1" i="0" u="none" strike="noStrike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70193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4">
        <a:lumMod val="20000"/>
        <a:lumOff val="80000"/>
      </a:schemeClr>
    </a:solidFill>
    <a:ln w="15875" cap="flat" cmpd="sng" algn="ctr">
      <a:solidFill>
        <a:schemeClr val="accent1">
          <a:lumMod val="50000"/>
        </a:schemeClr>
      </a:solidFill>
      <a:round/>
    </a:ln>
    <a:effectLst/>
  </c:spPr>
  <c:txPr>
    <a:bodyPr/>
    <a:lstStyle/>
    <a:p>
      <a:pPr>
        <a:defRPr lang="en-US" sz="900" b="1" i="0" u="none" strike="noStrike" kern="1200" baseline="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extLst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bg2">
                    <a:lumMod val="10000"/>
                  </a:schemeClr>
                </a:solidFill>
                <a:latin typeface="+mj-lt"/>
                <a:ea typeface="+mn-ea"/>
                <a:cs typeface="+mn-cs"/>
              </a:defRPr>
            </a:pPr>
            <a:r>
              <a:rPr lang="en-US" b="1">
                <a:solidFill>
                  <a:schemeClr val="bg2">
                    <a:lumMod val="10000"/>
                  </a:schemeClr>
                </a:solidFill>
                <a:latin typeface="+mj-lt"/>
              </a:rPr>
              <a:t>Production Vs Rejection Rate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bg2">
                  <a:lumMod val="10000"/>
                </a:schemeClr>
              </a:solidFill>
              <a:latin typeface="+mj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bg2">
                <a:lumMod val="25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rgbClr val="00B05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rgbClr val="00B050"/>
            </a:solidFill>
            <a:round/>
          </a:ln>
          <a:effectLst/>
        </c:spPr>
        <c:marker>
          <c:symbol val="none"/>
        </c:marker>
      </c:pivotFmt>
      <c:pivotFmt>
        <c:idx val="3"/>
        <c:spPr>
          <a:solidFill>
            <a:schemeClr val="accent1"/>
          </a:solidFill>
          <a:ln w="28575" cap="rnd">
            <a:solidFill>
              <a:schemeClr val="bg2">
                <a:lumMod val="25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rgbClr val="00B05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9.7192713753673554E-2"/>
          <c:y val="5.0925925925925923E-2"/>
          <c:w val="0.80815906428155337"/>
          <c:h val="0.70384032735207702"/>
        </c:manualLayout>
      </c:layout>
      <c:lineChart>
        <c:grouping val="standard"/>
        <c:varyColors val="0"/>
        <c:ser>
          <c:idx val="0"/>
          <c:order val="0"/>
          <c:tx>
            <c:v>Sum of Produced Qty</c:v>
          </c:tx>
          <c:spPr>
            <a:ln w="28575" cap="rnd">
              <a:solidFill>
                <a:schemeClr val="bg2">
                  <a:lumMod val="25000"/>
                </a:schemeClr>
              </a:solidFill>
              <a:round/>
            </a:ln>
            <a:effectLst/>
          </c:spPr>
          <c:marker>
            <c:symbol val="none"/>
          </c:marker>
          <c:cat>
            <c:strLit>
              <c:ptCount val="12"/>
              <c:pt idx="0">
                <c:v>2015 Jan</c:v>
              </c:pt>
              <c:pt idx="1">
                <c:v>2015 Feb</c:v>
              </c:pt>
              <c:pt idx="2">
                <c:v>2015 Mar</c:v>
              </c:pt>
              <c:pt idx="3">
                <c:v>2015 Apr</c:v>
              </c:pt>
              <c:pt idx="4">
                <c:v>2015 May</c:v>
              </c:pt>
              <c:pt idx="5">
                <c:v>2015 Jun</c:v>
              </c:pt>
              <c:pt idx="6">
                <c:v>2015 Jul</c:v>
              </c:pt>
              <c:pt idx="7">
                <c:v>2015 Aug</c:v>
              </c:pt>
              <c:pt idx="8">
                <c:v>2015 Sep</c:v>
              </c:pt>
              <c:pt idx="9">
                <c:v>2015 Oct</c:v>
              </c:pt>
              <c:pt idx="10">
                <c:v>2015 Nov</c:v>
              </c:pt>
              <c:pt idx="11">
                <c:v>2015 Dec</c:v>
              </c:pt>
            </c:strLit>
          </c:cat>
          <c:val>
            <c:numLit>
              <c:formatCode>General</c:formatCode>
              <c:ptCount val="12"/>
              <c:pt idx="0">
                <c:v>5075338</c:v>
              </c:pt>
              <c:pt idx="1">
                <c:v>4597390</c:v>
              </c:pt>
              <c:pt idx="2">
                <c:v>5399228</c:v>
              </c:pt>
              <c:pt idx="3">
                <c:v>4855150</c:v>
              </c:pt>
              <c:pt idx="4">
                <c:v>5003606</c:v>
              </c:pt>
              <c:pt idx="5">
                <c:v>5251148</c:v>
              </c:pt>
              <c:pt idx="6">
                <c:v>4921864</c:v>
              </c:pt>
              <c:pt idx="7">
                <c:v>5094156</c:v>
              </c:pt>
              <c:pt idx="8">
                <c:v>4717903</c:v>
              </c:pt>
              <c:pt idx="9">
                <c:v>4800267</c:v>
              </c:pt>
              <c:pt idx="10">
                <c:v>5136142</c:v>
              </c:pt>
              <c:pt idx="11">
                <c:v>5198429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6866-4B76-91B2-62E026D98C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39617264"/>
        <c:axId val="1239623984"/>
      </c:lineChart>
      <c:lineChart>
        <c:grouping val="standard"/>
        <c:varyColors val="0"/>
        <c:ser>
          <c:idx val="1"/>
          <c:order val="1"/>
          <c:tx>
            <c:v>Average of Rejection %</c:v>
          </c:tx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cat>
            <c:strLit>
              <c:ptCount val="12"/>
              <c:pt idx="0">
                <c:v>2015 Jan</c:v>
              </c:pt>
              <c:pt idx="1">
                <c:v>2015 Feb</c:v>
              </c:pt>
              <c:pt idx="2">
                <c:v>2015 Mar</c:v>
              </c:pt>
              <c:pt idx="3">
                <c:v>2015 Apr</c:v>
              </c:pt>
              <c:pt idx="4">
                <c:v>2015 May</c:v>
              </c:pt>
              <c:pt idx="5">
                <c:v>2015 Jun</c:v>
              </c:pt>
              <c:pt idx="6">
                <c:v>2015 Jul</c:v>
              </c:pt>
              <c:pt idx="7">
                <c:v>2015 Aug</c:v>
              </c:pt>
              <c:pt idx="8">
                <c:v>2015 Sep</c:v>
              </c:pt>
              <c:pt idx="9">
                <c:v>2015 Oct</c:v>
              </c:pt>
              <c:pt idx="10">
                <c:v>2015 Nov</c:v>
              </c:pt>
              <c:pt idx="11">
                <c:v>2015 Dec</c:v>
              </c:pt>
            </c:strLit>
          </c:cat>
          <c:val>
            <c:numLit>
              <c:formatCode>General</c:formatCode>
              <c:ptCount val="12"/>
              <c:pt idx="0">
                <c:v>8.4588104293820687E-3</c:v>
              </c:pt>
              <c:pt idx="1">
                <c:v>8.4137133808391516E-3</c:v>
              </c:pt>
              <c:pt idx="2">
                <c:v>8.1895278105557686E-3</c:v>
              </c:pt>
              <c:pt idx="3">
                <c:v>8.174973470510943E-3</c:v>
              </c:pt>
              <c:pt idx="4">
                <c:v>8.2248246429198271E-3</c:v>
              </c:pt>
              <c:pt idx="5">
                <c:v>8.2150090148108094E-3</c:v>
              </c:pt>
              <c:pt idx="6">
                <c:v>8.1914746219559926E-3</c:v>
              </c:pt>
              <c:pt idx="7">
                <c:v>8.3345145212177941E-3</c:v>
              </c:pt>
              <c:pt idx="8">
                <c:v>8.4115051343482006E-3</c:v>
              </c:pt>
              <c:pt idx="9">
                <c:v>7.9307090394558737E-3</c:v>
              </c:pt>
              <c:pt idx="10">
                <c:v>8.2717313539299297E-3</c:v>
              </c:pt>
              <c:pt idx="11">
                <c:v>8.3105406297215734E-3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6866-4B76-91B2-62E026D98C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39633584"/>
        <c:axId val="1239626384"/>
      </c:lineChart>
      <c:catAx>
        <c:axId val="12396172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39623984"/>
        <c:crosses val="autoZero"/>
        <c:auto val="1"/>
        <c:lblAlgn val="ctr"/>
        <c:lblOffset val="100"/>
        <c:noMultiLvlLbl val="0"/>
      </c:catAx>
      <c:valAx>
        <c:axId val="123962398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39617264"/>
        <c:crosses val="autoZero"/>
        <c:crossBetween val="between"/>
      </c:valAx>
      <c:valAx>
        <c:axId val="1239626384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39633584"/>
        <c:crosses val="max"/>
        <c:crossBetween val="between"/>
      </c:valAx>
      <c:catAx>
        <c:axId val="123963358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23962638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2.1604574203378881E-2"/>
          <c:y val="0.92680075153478236"/>
          <c:w val="0.9096790742066333"/>
          <c:h val="7.241779602452415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3">
        <a:lumMod val="20000"/>
        <a:lumOff val="80000"/>
      </a:schemeClr>
    </a:solidFill>
    <a:ln w="15875" cap="flat" cmpd="sng" algn="ctr">
      <a:solidFill>
        <a:schemeClr val="accent3">
          <a:lumMod val="50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/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withinLinearReversed" id="22">
  <a:schemeClr val="accent2"/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25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5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75000"/>
            <a:lumOff val="2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75000"/>
            <a:lumOff val="2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75000"/>
            <a:lumOff val="2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4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5DAFB7-639A-486A-B070-67DCF6F2B447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D14EF3-F7A4-4A6C-8FB6-3B51726DBC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8030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D14EF3-F7A4-4A6C-8FB6-3B51726DBCDB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80332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bin"/><Relationship Id="rId2" Type="http://schemas.openxmlformats.org/officeDocument/2006/relationships/image" Target="../media/image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gif"/><Relationship Id="rId4" Type="http://schemas.openxmlformats.org/officeDocument/2006/relationships/image" Target="../media/image3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bin"/><Relationship Id="rId2" Type="http://schemas.openxmlformats.org/officeDocument/2006/relationships/image" Target="../media/image1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bin"/><Relationship Id="rId2" Type="http://schemas.openxmlformats.org/officeDocument/2006/relationships/image" Target="../media/image1.bin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.xml"/><Relationship Id="rId4" Type="http://schemas.openxmlformats.org/officeDocument/2006/relationships/image" Target="../media/image2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2.xml"/><Relationship Id="rId5" Type="http://schemas.openxmlformats.org/officeDocument/2006/relationships/image" Target="../media/image3.bin"/><Relationship Id="rId4" Type="http://schemas.openxmlformats.org/officeDocument/2006/relationships/image" Target="../media/image2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bin"/><Relationship Id="rId2" Type="http://schemas.openxmlformats.org/officeDocument/2006/relationships/image" Target="../media/image7.bin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3.xml"/><Relationship Id="rId5" Type="http://schemas.openxmlformats.org/officeDocument/2006/relationships/image" Target="../media/image3.bin"/><Relationship Id="rId4" Type="http://schemas.openxmlformats.org/officeDocument/2006/relationships/image" Target="../media/image1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bin"/><Relationship Id="rId2" Type="http://schemas.openxmlformats.org/officeDocument/2006/relationships/image" Target="../media/image1.bin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4.xml"/><Relationship Id="rId4" Type="http://schemas.openxmlformats.org/officeDocument/2006/relationships/image" Target="../media/image2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bin"/><Relationship Id="rId2" Type="http://schemas.openxmlformats.org/officeDocument/2006/relationships/image" Target="../media/image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bin"/><Relationship Id="rId2" Type="http://schemas.openxmlformats.org/officeDocument/2006/relationships/image" Target="../media/image10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bin"/><Relationship Id="rId2" Type="http://schemas.openxmlformats.org/officeDocument/2006/relationships/image" Target="../media/image10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632" y="515071"/>
            <a:ext cx="8578645" cy="1491675"/>
          </a:xfrm>
        </p:spPr>
        <p:txBody>
          <a:bodyPr>
            <a:normAutofit/>
          </a:bodyPr>
          <a:lstStyle/>
          <a:p>
            <a:pPr algn="l"/>
            <a:r>
              <a:rPr lang="en-US" sz="2800" spc="-132" dirty="0">
                <a:solidFill>
                  <a:srgbClr val="181C24">
                    <a:alpha val="100000"/>
                  </a:srgbClr>
                </a:solidFill>
                <a:latin typeface="IBM Plex Serif SemiBold" panose="00000700000000000000" pitchFamily="2" charset="0"/>
              </a:rPr>
              <a:t>Project on Supply Chain Analytics</a:t>
            </a:r>
            <a:br>
              <a:rPr lang="en-US" sz="2800" spc="-132" dirty="0">
                <a:solidFill>
                  <a:srgbClr val="181C24">
                    <a:alpha val="100000"/>
                  </a:srgbClr>
                </a:solidFill>
                <a:latin typeface="IBM Plex Serif SemiBold" panose="00000700000000000000" pitchFamily="2" charset="0"/>
              </a:rPr>
            </a:br>
            <a:r>
              <a:rPr lang="en-IN" sz="1600" dirty="0"/>
              <a:t>To </a:t>
            </a:r>
            <a:r>
              <a:rPr lang="en-IN" sz="1600" dirty="0" err="1"/>
              <a:t>analyze</a:t>
            </a:r>
            <a:r>
              <a:rPr lang="en-IN" sz="1600" dirty="0"/>
              <a:t> supply chain operations and monitor key performance indicators (KPIs) for better decision-making.</a:t>
            </a:r>
            <a:endParaRPr sz="1600" dirty="0"/>
          </a:p>
        </p:txBody>
      </p:sp>
      <p:pic>
        <p:nvPicPr>
          <p:cNvPr id="10" name="Rect">
            <a:extLst>
              <a:ext uri="{FF2B5EF4-FFF2-40B4-BE49-F238E27FC236}">
                <a16:creationId xmlns:a16="http://schemas.microsoft.com/office/drawing/2014/main" id="{9BD2E999-93AF-EEF5-EDE1-674CA4C75C7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tretch/>
        </p:blipFill>
        <p:spPr>
          <a:xfrm>
            <a:off x="2871352" y="108156"/>
            <a:ext cx="6272981" cy="6749844"/>
          </a:xfrm>
          <a:prstGeom prst="rect">
            <a:avLst/>
          </a:prstGeom>
        </p:spPr>
      </p:pic>
      <p:pic>
        <p:nvPicPr>
          <p:cNvPr id="11" name="layoutShapeInnerChild9">
            <a:extLst>
              <a:ext uri="{FF2B5EF4-FFF2-40B4-BE49-F238E27FC236}">
                <a16:creationId xmlns:a16="http://schemas.microsoft.com/office/drawing/2014/main" id="{74D321EA-840E-4C31-E4DB-CAB62594BD4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  <a:extLst>
              <a:ext uri="{E1AD86CE-772C-4D1B-8F1E-00BA694BD283}">
                <a14:useLocalDpi xmlns="" xmlns:a16="http://schemas.microsoft.com/office/drawing/2014/main" xmlns:asvg="http://schemas.microsoft.com/office/drawing/2016/SVG/main" xmlns:p14="http://schemas.microsoft.com/office/powerpoint/2010/main" xmlns:a14="http://schemas.microsoft.com/office/drawing/2010/main" val="0"/>
              </a:ext>
            </a:extLst>
          </a:blip>
          <a:srcRect/>
          <a:stretch/>
        </p:blipFill>
        <p:spPr>
          <a:xfrm rot="10800000">
            <a:off x="7255543" y="1354389"/>
            <a:ext cx="1888457" cy="4988540"/>
          </a:xfrm>
          <a:prstGeom prst="rect">
            <a:avLst/>
          </a:prstGeom>
        </p:spPr>
      </p:pic>
      <p:pic>
        <p:nvPicPr>
          <p:cNvPr id="12" name="layoutShapeInnerChild7">
            <a:extLst>
              <a:ext uri="{FF2B5EF4-FFF2-40B4-BE49-F238E27FC236}">
                <a16:creationId xmlns:a16="http://schemas.microsoft.com/office/drawing/2014/main" id="{F5F1E16E-BC20-BD94-D06E-0257110EE73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  <a:extLst>
              <a:ext uri="{AB12BD28-4F43-4577-8AD6-E2FFE8177B8A}">
                <a14:useLocalDpi xmlns="" xmlns:a16="http://schemas.microsoft.com/office/drawing/2014/main" xmlns:asvg="http://schemas.microsoft.com/office/drawing/2016/SVG/main" xmlns:p14="http://schemas.microsoft.com/office/powerpoint/2010/main" xmlns:a14="http://schemas.microsoft.com/office/drawing/2010/main" val="0"/>
              </a:ext>
            </a:extLst>
          </a:blip>
          <a:srcRect/>
          <a:stretch/>
        </p:blipFill>
        <p:spPr>
          <a:xfrm rot="10800000">
            <a:off x="-2" y="1884439"/>
            <a:ext cx="1888457" cy="39284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2F619DD-0F0F-6B54-2C2D-7D8AF64A94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4998" y="2278014"/>
            <a:ext cx="3152473" cy="297957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033549E-06 0.074074075 L 1.3033549E-06 0 E" pathEditMode="relative" ptsTypes="">
                                      <p:cBhvr>
                                        <p:cTn id="9" dur="1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550323E-06 0.074074075 L -1.9550323E-06 0 E" pathEditMode="relative" ptsTypes="">
                                      <p:cBhvr>
                                        <p:cTn id="14" dur="1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074074075 L 0 0 E" pathEditMode="relative" ptsTypes="">
                                      <p:cBhvr>
                                        <p:cTn id="19" dur="12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lnSpc>
                <a:spcPts val="5292"/>
              </a:lnSpc>
            </a:pPr>
            <a:r>
              <a:rPr lang="en-US" sz="2800" spc="-84" dirty="0">
                <a:solidFill>
                  <a:srgbClr val="181C24">
                    <a:alpha val="100000"/>
                  </a:srgbClr>
                </a:solidFill>
                <a:latin typeface="IBM Plex Serif SemiBold" panose="00000700000000000000" pitchFamily="2" charset="0"/>
              </a:rPr>
              <a:t>Key Performance Indicators (KPIs)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1162" y="1571369"/>
            <a:ext cx="8229600" cy="4525963"/>
          </a:xfrm>
        </p:spPr>
        <p:txBody>
          <a:bodyPr>
            <a:normAutofit/>
          </a:bodyPr>
          <a:lstStyle/>
          <a:p>
            <a:r>
              <a:rPr lang="en-IN" sz="2400" dirty="0"/>
              <a:t>Total Orders : 12,000</a:t>
            </a:r>
          </a:p>
          <a:p>
            <a:r>
              <a:rPr lang="en-IN" sz="2400" dirty="0"/>
              <a:t>Total Sales Revenue : ₹19,39,92,801</a:t>
            </a:r>
          </a:p>
          <a:p>
            <a:r>
              <a:rPr lang="en-IN" sz="2400" dirty="0"/>
              <a:t>Total Shipping Cost : ₹16,22,595</a:t>
            </a:r>
          </a:p>
          <a:p>
            <a:r>
              <a:rPr lang="en-IN" sz="2400" dirty="0"/>
              <a:t>Average Delay Days : 1.46</a:t>
            </a:r>
          </a:p>
          <a:p>
            <a:r>
              <a:rPr lang="en-IN" sz="2400" dirty="0"/>
              <a:t>Average Order Value : ₹16,166</a:t>
            </a:r>
          </a:p>
          <a:p>
            <a:r>
              <a:rPr lang="en-IN" sz="2400" dirty="0"/>
              <a:t>Forecast Accuracy : 94%</a:t>
            </a:r>
          </a:p>
          <a:p>
            <a:r>
              <a:rPr lang="en-IN" sz="2400" dirty="0"/>
              <a:t>On-Time Delivery : 66% </a:t>
            </a:r>
          </a:p>
          <a:p>
            <a:r>
              <a:rPr lang="en-IN" sz="2400" dirty="0"/>
              <a:t>Fill Rate : 95%</a:t>
            </a:r>
          </a:p>
          <a:p>
            <a:endParaRPr lang="en-US" sz="2400" dirty="0">
              <a:latin typeface="+mj-lt"/>
            </a:endParaRPr>
          </a:p>
          <a:p>
            <a:pPr marL="0" indent="0">
              <a:buNone/>
            </a:pPr>
            <a:endParaRPr lang="en-US" sz="2400" dirty="0">
              <a:latin typeface="+mj-lt"/>
            </a:endParaRPr>
          </a:p>
        </p:txBody>
      </p:sp>
      <p:pic>
        <p:nvPicPr>
          <p:cNvPr id="4" name="Rect">
            <a:extLst>
              <a:ext uri="{FF2B5EF4-FFF2-40B4-BE49-F238E27FC236}">
                <a16:creationId xmlns:a16="http://schemas.microsoft.com/office/drawing/2014/main" id="{A45691C1-2004-59C2-0EF3-15ED08E145F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tretch/>
        </p:blipFill>
        <p:spPr>
          <a:xfrm>
            <a:off x="2767781" y="0"/>
            <a:ext cx="6376219" cy="6860930"/>
          </a:xfrm>
          <a:prstGeom prst="rect">
            <a:avLst/>
          </a:prstGeom>
        </p:spPr>
      </p:pic>
      <p:pic>
        <p:nvPicPr>
          <p:cNvPr id="6" name="layoutShapeInnerChild9">
            <a:extLst>
              <a:ext uri="{FF2B5EF4-FFF2-40B4-BE49-F238E27FC236}">
                <a16:creationId xmlns:a16="http://schemas.microsoft.com/office/drawing/2014/main" id="{365813D7-C65B-1EB2-17DE-86D213280F4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  <a:extLst>
              <a:ext uri="{E1AD86CE-772C-4D1B-8F1E-00BA694BD283}">
                <a14:useLocalDpi xmlns="" xmlns:a16="http://schemas.microsoft.com/office/drawing/2014/main" xmlns:asvg="http://schemas.microsoft.com/office/drawing/2016/SVG/main" xmlns:p14="http://schemas.microsoft.com/office/powerpoint/2010/main" xmlns:a14="http://schemas.microsoft.com/office/drawing/2010/main" val="0"/>
              </a:ext>
            </a:extLst>
          </a:blip>
          <a:srcRect/>
          <a:stretch/>
        </p:blipFill>
        <p:spPr>
          <a:xfrm rot="10800000">
            <a:off x="7255543" y="135189"/>
            <a:ext cx="1888457" cy="4988540"/>
          </a:xfrm>
          <a:prstGeom prst="rect">
            <a:avLst/>
          </a:prstGeom>
        </p:spPr>
      </p:pic>
      <p:pic>
        <p:nvPicPr>
          <p:cNvPr id="7" name="layoutShapeInnerChild8">
            <a:extLst>
              <a:ext uri="{FF2B5EF4-FFF2-40B4-BE49-F238E27FC236}">
                <a16:creationId xmlns:a16="http://schemas.microsoft.com/office/drawing/2014/main" id="{E753A1A4-5A64-38A6-7A81-60500055A37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  <a:extLst>
              <a:ext uri="{EF614191-4A63-4084-8F34-7B577D4012EB}">
                <a14:useLocalDpi xmlns:a14="http://schemas.microsoft.com/office/drawing/2010/main" xmlns:p14="http://schemas.microsoft.com/office/powerpoint/2010/main" xmlns:asvg="http://schemas.microsoft.com/office/drawing/2016/SVG/main" xmlns:a16="http://schemas.microsoft.com/office/drawing/2014/main" xmlns="" val="0"/>
              </a:ext>
            </a:extLst>
          </a:blip>
          <a:srcRect/>
          <a:stretch/>
        </p:blipFill>
        <p:spPr>
          <a:xfrm>
            <a:off x="1" y="5078871"/>
            <a:ext cx="2133599" cy="18002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033549E-06 0.074074075 L 1.3033549E-06 0 E" pathEditMode="relative" ptsTypes="">
                                      <p:cBhvr>
                                        <p:cTn id="9" dur="12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550323E-06 0.074074075 L -1.9550323E-06 0 E" pathEditMode="relative" ptsTypes="">
                                      <p:cBhvr>
                                        <p:cTn id="14" dur="1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550323E-06 0.07407696 L -1.9550323E-06 2.8822158E-06 E" pathEditMode="relative" ptsTypes="">
                                      <p:cBhvr>
                                        <p:cTn id="19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latin typeface="IBM Plex Serif SemiBold" panose="02060703050406000203" pitchFamily="18" charset="0"/>
              </a:rPr>
              <a:t>Manufactured vs Rejected Quantity</a:t>
            </a:r>
            <a:endParaRPr sz="3200" dirty="0">
              <a:latin typeface="IBM Plex Serif SemiBold" panose="020607030504060002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3922" y="1309769"/>
            <a:ext cx="6948949" cy="3532238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+mj-lt"/>
              </a:rPr>
              <a:t>Comparison between produced and rejected quantities</a:t>
            </a:r>
          </a:p>
          <a:p>
            <a:r>
              <a:rPr lang="en-US" sz="2800" dirty="0">
                <a:latin typeface="+mj-lt"/>
              </a:rPr>
              <a:t> Helps identify production efficiency</a:t>
            </a:r>
          </a:p>
          <a:p>
            <a:r>
              <a:rPr lang="en-US" sz="2800" dirty="0">
                <a:latin typeface="+mj-lt"/>
              </a:rPr>
              <a:t> Rejection % indicates quality performance</a:t>
            </a:r>
          </a:p>
          <a:p>
            <a:endParaRPr sz="2800" dirty="0">
              <a:latin typeface="+mj-lt"/>
            </a:endParaRPr>
          </a:p>
        </p:txBody>
      </p:sp>
      <p:pic>
        <p:nvPicPr>
          <p:cNvPr id="4" name="Rect">
            <a:extLst>
              <a:ext uri="{FF2B5EF4-FFF2-40B4-BE49-F238E27FC236}">
                <a16:creationId xmlns:a16="http://schemas.microsoft.com/office/drawing/2014/main" id="{C4686B11-A5CA-0C29-ED0A-7BA6985A9B8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tretch/>
        </p:blipFill>
        <p:spPr>
          <a:xfrm>
            <a:off x="2767781" y="-2930"/>
            <a:ext cx="6376219" cy="6860930"/>
          </a:xfrm>
          <a:prstGeom prst="rect">
            <a:avLst/>
          </a:prstGeom>
        </p:spPr>
      </p:pic>
      <p:pic>
        <p:nvPicPr>
          <p:cNvPr id="5" name="layoutShapeInnerChild5">
            <a:extLst>
              <a:ext uri="{FF2B5EF4-FFF2-40B4-BE49-F238E27FC236}">
                <a16:creationId xmlns:a16="http://schemas.microsoft.com/office/drawing/2014/main" id="{1FAA00C8-D894-0C42-1A8C-4D213A86675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  <a:extLst>
              <a:ext uri="{282E72EA-C5F0-4DB8-B6ED-E46A1AE6294C}">
                <a14:useLocalDpi xmlns:a14="http://schemas.microsoft.com/office/drawing/2010/main" xmlns:p14="http://schemas.microsoft.com/office/powerpoint/2010/main" xmlns:asvg="http://schemas.microsoft.com/office/drawing/2016/SVG/main" xmlns:a16="http://schemas.microsoft.com/office/drawing/2014/main" xmlns="" val="0"/>
              </a:ext>
            </a:extLst>
          </a:blip>
          <a:srcRect/>
          <a:stretch/>
        </p:blipFill>
        <p:spPr>
          <a:xfrm rot="10800000">
            <a:off x="7726312" y="5032059"/>
            <a:ext cx="1412772" cy="1825941"/>
          </a:xfrm>
          <a:prstGeom prst="rect">
            <a:avLst/>
          </a:prstGeom>
        </p:spPr>
      </p:pic>
      <p:pic>
        <p:nvPicPr>
          <p:cNvPr id="6" name="layoutShapeInnerChild9">
            <a:extLst>
              <a:ext uri="{FF2B5EF4-FFF2-40B4-BE49-F238E27FC236}">
                <a16:creationId xmlns:a16="http://schemas.microsoft.com/office/drawing/2014/main" id="{5075078A-87F6-A65D-79C0-2A7D6DF10D9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  <a:extLst>
              <a:ext uri="{E1AD86CE-772C-4D1B-8F1E-00BA694BD283}">
                <a14:useLocalDpi xmlns="" xmlns:a16="http://schemas.microsoft.com/office/drawing/2014/main" xmlns:asvg="http://schemas.microsoft.com/office/drawing/2016/SVG/main" xmlns:p14="http://schemas.microsoft.com/office/powerpoint/2010/main" xmlns:a14="http://schemas.microsoft.com/office/drawing/2010/main" val="0"/>
              </a:ext>
            </a:extLst>
          </a:blip>
          <a:srcRect/>
          <a:stretch/>
        </p:blipFill>
        <p:spPr>
          <a:xfrm>
            <a:off x="0" y="3799512"/>
            <a:ext cx="1363636" cy="3602175"/>
          </a:xfrm>
          <a:prstGeom prst="rect">
            <a:avLst/>
          </a:prstGeom>
        </p:spPr>
      </p:pic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7803AE5C-5DCC-47B8-8820-E5F9B32A6D21}"/>
              </a:ext>
              <a:ext uri="{147F2762-F138-4A5C-976F-8EAC2B608ADB}">
                <a16:predDERef xmlns:a16="http://schemas.microsoft.com/office/drawing/2014/main" pred="{A890D681-1F59-3291-52F5-F712ED9D2E3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39807072"/>
              </p:ext>
            </p:extLst>
          </p:nvPr>
        </p:nvGraphicFramePr>
        <p:xfrm>
          <a:off x="2008845" y="3614496"/>
          <a:ext cx="4559102" cy="19337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033549E-06 0.074074075 L 1.3033549E-06 0 E" pathEditMode="relative" ptsTypes="">
                                      <p:cBhvr>
                                        <p:cTn id="9" dur="12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074074075 L 0 0 E" pathEditMode="relative" ptsTypes="">
                                      <p:cBhvr>
                                        <p:cTn id="14" dur="1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550323E-06 0.074074075 L -1.9550323E-06 0 E" pathEditMode="relative" ptsTypes="">
                                      <p:cBhvr>
                                        <p:cTn id="19" dur="1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IBM Plex Serif SemiBold" panose="02060703050406000203" pitchFamily="18" charset="0"/>
              </a:rPr>
              <a:t>Department-wise Performance</a:t>
            </a:r>
            <a:endParaRPr sz="3600" dirty="0">
              <a:latin typeface="IBM Plex Serif SemiBold" panose="020607030504060002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8216" y="1361692"/>
            <a:ext cx="6561015" cy="2898410"/>
          </a:xfrm>
        </p:spPr>
        <p:txBody>
          <a:bodyPr>
            <a:normAutofit/>
          </a:bodyPr>
          <a:lstStyle/>
          <a:p>
            <a:r>
              <a:rPr lang="en-US" sz="2000" dirty="0"/>
              <a:t>Footwear</a:t>
            </a:r>
          </a:p>
          <a:p>
            <a:r>
              <a:rPr lang="en-US" sz="2000" dirty="0"/>
              <a:t> Knitwear</a:t>
            </a:r>
          </a:p>
          <a:p>
            <a:r>
              <a:rPr lang="en-US" sz="2000" dirty="0"/>
              <a:t> Printed Fabric</a:t>
            </a:r>
          </a:p>
          <a:p>
            <a:r>
              <a:rPr lang="en-US" sz="2000" dirty="0"/>
              <a:t>Woven Labels</a:t>
            </a:r>
          </a:p>
          <a:p>
            <a:r>
              <a:rPr lang="en-US" sz="2000" dirty="0"/>
              <a:t> Compare production vs rejection across departments</a:t>
            </a:r>
          </a:p>
          <a:p>
            <a:endParaRPr sz="2000" dirty="0"/>
          </a:p>
        </p:txBody>
      </p:sp>
      <p:pic>
        <p:nvPicPr>
          <p:cNvPr id="4" name="Rect">
            <a:extLst>
              <a:ext uri="{FF2B5EF4-FFF2-40B4-BE49-F238E27FC236}">
                <a16:creationId xmlns:a16="http://schemas.microsoft.com/office/drawing/2014/main" id="{19C79725-0E51-5DD5-87D3-7D25ACBBDC1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tretch/>
        </p:blipFill>
        <p:spPr>
          <a:xfrm>
            <a:off x="2767781" y="-2930"/>
            <a:ext cx="6376219" cy="6860930"/>
          </a:xfrm>
          <a:prstGeom prst="rect">
            <a:avLst/>
          </a:prstGeom>
        </p:spPr>
      </p:pic>
      <p:pic>
        <p:nvPicPr>
          <p:cNvPr id="5" name="layoutShapeInnerChild9">
            <a:extLst>
              <a:ext uri="{FF2B5EF4-FFF2-40B4-BE49-F238E27FC236}">
                <a16:creationId xmlns:a16="http://schemas.microsoft.com/office/drawing/2014/main" id="{6767C44D-CA58-4B4D-DD97-907BC5C5EE5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  <a:extLst>
              <a:ext uri="{E1AD86CE-772C-4D1B-8F1E-00BA694BD283}">
                <a14:useLocalDpi xmlns="" xmlns:a16="http://schemas.microsoft.com/office/drawing/2014/main" xmlns:asvg="http://schemas.microsoft.com/office/drawing/2016/SVG/main" xmlns:p14="http://schemas.microsoft.com/office/powerpoint/2010/main" xmlns:a14="http://schemas.microsoft.com/office/drawing/2010/main" val="0"/>
              </a:ext>
            </a:extLst>
          </a:blip>
          <a:srcRect/>
          <a:stretch/>
        </p:blipFill>
        <p:spPr>
          <a:xfrm>
            <a:off x="0" y="4217590"/>
            <a:ext cx="1133716" cy="2994819"/>
          </a:xfrm>
          <a:prstGeom prst="rect">
            <a:avLst/>
          </a:prstGeom>
        </p:spPr>
      </p:pic>
      <p:pic>
        <p:nvPicPr>
          <p:cNvPr id="9" name="layoutShapeInnerChild7">
            <a:extLst>
              <a:ext uri="{FF2B5EF4-FFF2-40B4-BE49-F238E27FC236}">
                <a16:creationId xmlns:a16="http://schemas.microsoft.com/office/drawing/2014/main" id="{52E5B241-815E-0C9E-6E59-D72CC907A6B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  <a:extLst>
              <a:ext uri="{CDD7CF55-E0E7-4D33-B9AB-F600C352409A}">
                <a14:useLocalDpi xmlns:a14="http://schemas.microsoft.com/office/drawing/2010/main" xmlns:p14="http://schemas.microsoft.com/office/powerpoint/2010/main" xmlns:asvg="http://schemas.microsoft.com/office/drawing/2016/SVG/main" xmlns:a16="http://schemas.microsoft.com/office/drawing/2014/main" xmlns="" val="0"/>
              </a:ext>
            </a:extLst>
          </a:blip>
          <a:srcRect/>
          <a:stretch/>
        </p:blipFill>
        <p:spPr>
          <a:xfrm>
            <a:off x="6819900" y="1185974"/>
            <a:ext cx="2324100" cy="4834681"/>
          </a:xfrm>
          <a:prstGeom prst="rect">
            <a:avLst/>
          </a:prstGeom>
        </p:spPr>
      </p:pic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0B600C16-5567-B01B-C3D5-783819C36880}"/>
              </a:ext>
              <a:ext uri="{147F2762-F138-4A5C-976F-8EAC2B608ADB}">
                <a16:predDERef xmlns:a16="http://schemas.microsoft.com/office/drawing/2014/main" pred="{2890D0D9-97C3-CD1A-3D4F-EB9B23B602B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3228968"/>
              </p:ext>
            </p:extLst>
          </p:nvPr>
        </p:nvGraphicFramePr>
        <p:xfrm>
          <a:off x="1524786" y="3616960"/>
          <a:ext cx="5505147" cy="1991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033549E-06 0.074074075 L 1.3033549E-06 0 E" pathEditMode="relative" ptsTypes="">
                                      <p:cBhvr>
                                        <p:cTn id="9" dur="12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550323E-06 0.074074075 L -1.9550323E-06 0 E" pathEditMode="relative" ptsTypes="">
                                      <p:cBhvr>
                                        <p:cTn id="14" dur="1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074074075 L 0 0 E" pathEditMode="relative" ptsTypes="">
                                      <p:cBhvr>
                                        <p:cTn id="19" dur="12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ct">
            <a:extLst>
              <a:ext uri="{FF2B5EF4-FFF2-40B4-BE49-F238E27FC236}">
                <a16:creationId xmlns:a16="http://schemas.microsoft.com/office/drawing/2014/main" id="{B3569752-574A-D804-0C2B-E51F4D01DC5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tretch/>
        </p:blipFill>
        <p:spPr>
          <a:xfrm>
            <a:off x="0" y="0"/>
            <a:ext cx="5715000" cy="5715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IBM Plex Serif SemiBold" panose="02060703050406000203" pitchFamily="18" charset="0"/>
              </a:rPr>
              <a:t>Monthly Production Trend</a:t>
            </a:r>
            <a:endParaRPr sz="3600" dirty="0">
              <a:latin typeface="IBM Plex Serif SemiBold" panose="020607030504060002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7120" y="1600201"/>
            <a:ext cx="6644640" cy="2159000"/>
          </a:xfrm>
        </p:spPr>
        <p:txBody>
          <a:bodyPr>
            <a:normAutofit/>
          </a:bodyPr>
          <a:lstStyle/>
          <a:p>
            <a:r>
              <a:rPr lang="en-US" sz="2800" dirty="0"/>
              <a:t>Production data from Jan to Dec</a:t>
            </a:r>
          </a:p>
          <a:p>
            <a:r>
              <a:rPr lang="en-US" sz="2800" dirty="0"/>
              <a:t> Identify peak and low production months</a:t>
            </a:r>
          </a:p>
          <a:p>
            <a:r>
              <a:rPr lang="en-US" sz="2800" dirty="0"/>
              <a:t> Useful for planning and forecasting</a:t>
            </a:r>
          </a:p>
          <a:p>
            <a:endParaRPr sz="2800" dirty="0"/>
          </a:p>
        </p:txBody>
      </p:sp>
      <p:pic>
        <p:nvPicPr>
          <p:cNvPr id="5" name="layoutShapeInnerChild9">
            <a:extLst>
              <a:ext uri="{FF2B5EF4-FFF2-40B4-BE49-F238E27FC236}">
                <a16:creationId xmlns:a16="http://schemas.microsoft.com/office/drawing/2014/main" id="{51F14F32-27E1-8838-EBD8-5891A51861C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  <a:extLst>
              <a:ext uri="{24B5DEC8-37AC-4A67-AC82-5FF9E1DE54F7}">
                <a14:useLocalDpi xmlns:a14="http://schemas.microsoft.com/office/drawing/2010/main" xmlns:p14="http://schemas.microsoft.com/office/powerpoint/2010/main" xmlns:asvg="http://schemas.microsoft.com/office/drawing/2016/SVG/main" xmlns:a16="http://schemas.microsoft.com/office/drawing/2014/main" xmlns="" val="0"/>
              </a:ext>
            </a:extLst>
          </a:blip>
          <a:srcRect/>
          <a:stretch/>
        </p:blipFill>
        <p:spPr>
          <a:xfrm>
            <a:off x="0" y="274638"/>
            <a:ext cx="1332214" cy="3519170"/>
          </a:xfrm>
          <a:prstGeom prst="rect">
            <a:avLst/>
          </a:prstGeom>
        </p:spPr>
      </p:pic>
      <p:pic>
        <p:nvPicPr>
          <p:cNvPr id="6" name="Rect">
            <a:extLst>
              <a:ext uri="{FF2B5EF4-FFF2-40B4-BE49-F238E27FC236}">
                <a16:creationId xmlns:a16="http://schemas.microsoft.com/office/drawing/2014/main" id="{2042B5C5-6734-0711-BFB4-311D4B90AFC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2062527" y="-256410"/>
            <a:ext cx="7081473" cy="7114410"/>
          </a:xfrm>
          <a:prstGeom prst="rect">
            <a:avLst/>
          </a:prstGeom>
        </p:spPr>
      </p:pic>
      <p:pic>
        <p:nvPicPr>
          <p:cNvPr id="7" name="layoutShapeInnerChild7">
            <a:extLst>
              <a:ext uri="{FF2B5EF4-FFF2-40B4-BE49-F238E27FC236}">
                <a16:creationId xmlns:a16="http://schemas.microsoft.com/office/drawing/2014/main" id="{82F38184-6ADC-D940-6821-34B14CD7EF9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  <a:extLst>
              <a:ext uri="{CDD7CF55-E0E7-4D33-B9AB-F600C352409A}">
                <a14:useLocalDpi xmlns:a14="http://schemas.microsoft.com/office/drawing/2010/main" xmlns:p14="http://schemas.microsoft.com/office/powerpoint/2010/main" xmlns:asvg="http://schemas.microsoft.com/office/drawing/2016/SVG/main" xmlns:a16="http://schemas.microsoft.com/office/drawing/2014/main" xmlns="" val="0"/>
              </a:ext>
            </a:extLst>
          </a:blip>
          <a:srcRect/>
          <a:stretch/>
        </p:blipFill>
        <p:spPr>
          <a:xfrm>
            <a:off x="6802120" y="2297957"/>
            <a:ext cx="2324100" cy="4834681"/>
          </a:xfrm>
          <a:prstGeom prst="rect">
            <a:avLst/>
          </a:prstGeom>
        </p:spPr>
      </p:pic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59F8FED4-4EF2-4FD1-97CB-6E586350FE4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35006713"/>
              </p:ext>
            </p:extLst>
          </p:nvPr>
        </p:nvGraphicFramePr>
        <p:xfrm>
          <a:off x="1326273" y="3619500"/>
          <a:ext cx="5044047" cy="23519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074074075 L 0 0 E" pathEditMode="relative" ptsTypes="">
                                      <p:cBhvr>
                                        <p:cTn id="9" dur="12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550323E-06 0.074074075 L -1.9550323E-06 0 E" pathEditMode="relative" ptsTypes="">
                                      <p:cBhvr>
                                        <p:cTn id="14" dur="1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033549E-06 0.074074075 L 1.3033549E-06 0 E" pathEditMode="relative" ptsTypes="">
                                      <p:cBhvr>
                                        <p:cTn id="19" dur="1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074074075 L 0 0 E" pathEditMode="relative" ptsTypes="">
                                      <p:cBhvr>
                                        <p:cTn id="24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600" dirty="0">
                <a:latin typeface="IBM Plex Serif SemiBold" panose="02060703050406000203" pitchFamily="18" charset="0"/>
              </a:rPr>
              <a:t>Production vs Rejection Rate Trend</a:t>
            </a:r>
            <a:r>
              <a:rPr sz="3600" dirty="0">
                <a:latin typeface="IBM Plex Serif SemiBold" panose="02060703050406000203" pitchFamily="18" charset="0"/>
              </a:rPr>
              <a:t>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0240" y="1772921"/>
            <a:ext cx="7183120" cy="2606040"/>
          </a:xfrm>
        </p:spPr>
        <p:txBody>
          <a:bodyPr>
            <a:normAutofit/>
          </a:bodyPr>
          <a:lstStyle/>
          <a:p>
            <a:r>
              <a:rPr lang="en-US" sz="2800" dirty="0"/>
              <a:t>Line chart showing production vs rejection %</a:t>
            </a:r>
          </a:p>
          <a:p>
            <a:r>
              <a:rPr lang="en-US" sz="2800" dirty="0"/>
              <a:t> Helps track quality over time</a:t>
            </a:r>
          </a:p>
          <a:p>
            <a:r>
              <a:rPr lang="en-US" sz="2800" dirty="0"/>
              <a:t> Identify months with higher rejection</a:t>
            </a:r>
          </a:p>
          <a:p>
            <a:endParaRPr sz="2800" dirty="0"/>
          </a:p>
        </p:txBody>
      </p:sp>
      <p:pic>
        <p:nvPicPr>
          <p:cNvPr id="4" name="Rect">
            <a:extLst>
              <a:ext uri="{FF2B5EF4-FFF2-40B4-BE49-F238E27FC236}">
                <a16:creationId xmlns:a16="http://schemas.microsoft.com/office/drawing/2014/main" id="{A76263AE-974C-D859-1198-2D57D148609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tretch/>
        </p:blipFill>
        <p:spPr>
          <a:xfrm>
            <a:off x="2062527" y="-256410"/>
            <a:ext cx="7081473" cy="7114410"/>
          </a:xfrm>
          <a:prstGeom prst="rect">
            <a:avLst/>
          </a:prstGeom>
        </p:spPr>
      </p:pic>
      <p:pic>
        <p:nvPicPr>
          <p:cNvPr id="5" name="layoutShapeInnerChild5">
            <a:extLst>
              <a:ext uri="{FF2B5EF4-FFF2-40B4-BE49-F238E27FC236}">
                <a16:creationId xmlns:a16="http://schemas.microsoft.com/office/drawing/2014/main" id="{4B974962-FF33-E9AE-5A8B-E193603927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  <a:extLst>
              <a:ext uri="{282E72EA-C5F0-4DB8-B6ED-E46A1AE6294C}">
                <a14:useLocalDpi xmlns:a14="http://schemas.microsoft.com/office/drawing/2010/main" xmlns:p14="http://schemas.microsoft.com/office/powerpoint/2010/main" xmlns:asvg="http://schemas.microsoft.com/office/drawing/2016/SVG/main" xmlns:a16="http://schemas.microsoft.com/office/drawing/2014/main" xmlns="" val="0"/>
              </a:ext>
            </a:extLst>
          </a:blip>
          <a:srcRect/>
          <a:stretch/>
        </p:blipFill>
        <p:spPr>
          <a:xfrm rot="16200000">
            <a:off x="206586" y="5238643"/>
            <a:ext cx="1412772" cy="1825941"/>
          </a:xfrm>
          <a:prstGeom prst="rect">
            <a:avLst/>
          </a:prstGeom>
        </p:spPr>
      </p:pic>
      <p:pic>
        <p:nvPicPr>
          <p:cNvPr id="6" name="layoutShapeInnerChild9">
            <a:extLst>
              <a:ext uri="{FF2B5EF4-FFF2-40B4-BE49-F238E27FC236}">
                <a16:creationId xmlns:a16="http://schemas.microsoft.com/office/drawing/2014/main" id="{C99670CC-4703-218E-7513-3609B18CFF9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  <a:extLst>
              <a:ext uri="{E1AD86CE-772C-4D1B-8F1E-00BA694BD283}">
                <a14:useLocalDpi xmlns="" xmlns:a16="http://schemas.microsoft.com/office/drawing/2014/main" xmlns:asvg="http://schemas.microsoft.com/office/drawing/2016/SVG/main" xmlns:p14="http://schemas.microsoft.com/office/powerpoint/2010/main" xmlns:a14="http://schemas.microsoft.com/office/drawing/2010/main" val="0"/>
              </a:ext>
            </a:extLst>
          </a:blip>
          <a:srcRect/>
          <a:stretch/>
        </p:blipFill>
        <p:spPr>
          <a:xfrm rot="10800000">
            <a:off x="7255543" y="135189"/>
            <a:ext cx="1888457" cy="4988540"/>
          </a:xfrm>
          <a:prstGeom prst="rect">
            <a:avLst/>
          </a:prstGeom>
        </p:spPr>
      </p:pic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34AFF866-1223-49AE-BC0F-EF2A3B64D81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12597184"/>
              </p:ext>
            </p:extLst>
          </p:nvPr>
        </p:nvGraphicFramePr>
        <p:xfrm>
          <a:off x="1164899" y="3730045"/>
          <a:ext cx="5632141" cy="2284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033549E-06 0.074074075 L 1.3033549E-06 0 E" pathEditMode="relative" ptsTypes="">
                                      <p:cBhvr>
                                        <p:cTn id="9" dur="12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074074075 L 0 0 E" pathEditMode="relative" ptsTypes="">
                                      <p:cBhvr>
                                        <p:cTn id="14" dur="1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550323E-06 0.074074075 L -1.9550323E-06 0 E" pathEditMode="relative" ptsTypes="">
                                      <p:cBhvr>
                                        <p:cTn id="19" dur="1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IBM Plex Serif SemiBold" panose="02060703050406000203" pitchFamily="18" charset="0"/>
              </a:rPr>
              <a:t>Dashboard Filters</a:t>
            </a:r>
            <a:endParaRPr dirty="0">
              <a:latin typeface="IBM Plex Serif SemiBold" panose="020607030504060002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651002"/>
            <a:ext cx="6502400" cy="2534920"/>
          </a:xfrm>
        </p:spPr>
        <p:txBody>
          <a:bodyPr/>
          <a:lstStyle/>
          <a:p>
            <a:r>
              <a:rPr lang="en-US" dirty="0"/>
              <a:t> Department Filter</a:t>
            </a:r>
          </a:p>
          <a:p>
            <a:r>
              <a:rPr lang="en-US" dirty="0"/>
              <a:t> Monthly Filter</a:t>
            </a:r>
          </a:p>
          <a:p>
            <a:r>
              <a:rPr lang="en-US" dirty="0"/>
              <a:t>Enables dynamic analysis</a:t>
            </a:r>
          </a:p>
          <a:p>
            <a:endParaRPr dirty="0"/>
          </a:p>
        </p:txBody>
      </p:sp>
      <p:pic>
        <p:nvPicPr>
          <p:cNvPr id="4" name="Rect">
            <a:extLst>
              <a:ext uri="{FF2B5EF4-FFF2-40B4-BE49-F238E27FC236}">
                <a16:creationId xmlns:a16="http://schemas.microsoft.com/office/drawing/2014/main" id="{228C9BC7-A334-222C-675F-E256526A7C2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tretch/>
        </p:blipFill>
        <p:spPr>
          <a:xfrm>
            <a:off x="3027679" y="-977770"/>
            <a:ext cx="5232401" cy="7276970"/>
          </a:xfrm>
          <a:prstGeom prst="rect">
            <a:avLst/>
          </a:prstGeom>
        </p:spPr>
      </p:pic>
      <p:pic>
        <p:nvPicPr>
          <p:cNvPr id="5" name="layoutShapeInnerChild8">
            <a:extLst>
              <a:ext uri="{FF2B5EF4-FFF2-40B4-BE49-F238E27FC236}">
                <a16:creationId xmlns:a16="http://schemas.microsoft.com/office/drawing/2014/main" id="{FCF7ABE3-43B0-E888-C6AD-F21F4178E22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  <a:extLst>
              <a:ext uri="{EF614191-4A63-4084-8F34-7B577D4012EB}">
                <a14:useLocalDpi xmlns:a14="http://schemas.microsoft.com/office/drawing/2010/main" xmlns:p14="http://schemas.microsoft.com/office/powerpoint/2010/main" xmlns:asvg="http://schemas.microsoft.com/office/drawing/2016/SVG/main" xmlns:a16="http://schemas.microsoft.com/office/drawing/2014/main" xmlns="" val="0"/>
              </a:ext>
            </a:extLst>
          </a:blip>
          <a:srcRect/>
          <a:stretch/>
        </p:blipFill>
        <p:spPr>
          <a:xfrm rot="16200000">
            <a:off x="5388252" y="3102251"/>
            <a:ext cx="4073981" cy="34375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8CC7B6-7E17-D385-1A98-D44FB9B37B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175" y="3786701"/>
            <a:ext cx="2000529" cy="17433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BC9FA48-77E3-75F5-1F0E-17D7CD45AF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7070" y="3631828"/>
            <a:ext cx="2076740" cy="266737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033549E-06 0.074074075 L 1.3033549E-06 0 E" pathEditMode="relative" ptsTypes="">
                                      <p:cBhvr>
                                        <p:cTn id="9" dur="12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550323E-06 0.07407696 L -1.9550323E-06 2.8822158E-06 E" pathEditMode="relative" ptsTypes="">
                                      <p:cBhvr>
                                        <p:cTn id="14" dur="1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ct">
            <a:extLst>
              <a:ext uri="{FF2B5EF4-FFF2-40B4-BE49-F238E27FC236}">
                <a16:creationId xmlns:a16="http://schemas.microsoft.com/office/drawing/2014/main" id="{ED6829E8-2628-9ACD-0AAC-F56DB65838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alphaModFix/>
          </a:blip>
          <a:stretch/>
        </p:blipFill>
        <p:spPr>
          <a:xfrm rot="16200000">
            <a:off x="3826926" y="725587"/>
            <a:ext cx="3987800" cy="66463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5802896-6255-49AF-F4FA-37625FD383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512" y="1574800"/>
            <a:ext cx="8884488" cy="321330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ts val="5292"/>
              </a:lnSpc>
            </a:pPr>
            <a:r>
              <a:rPr lang="en-US" spc="-84" dirty="0">
                <a:solidFill>
                  <a:srgbClr val="181C24">
                    <a:alpha val="100000"/>
                  </a:srgbClr>
                </a:solidFill>
                <a:latin typeface="IBM Plex Serif SemiBold" panose="00000700000000000000" pitchFamily="2" charset="0"/>
              </a:rPr>
              <a:t> Manufacturing Dashboard</a:t>
            </a:r>
          </a:p>
        </p:txBody>
      </p:sp>
      <p:pic>
        <p:nvPicPr>
          <p:cNvPr id="6" name="layoutShapeInnerChild8">
            <a:extLst>
              <a:ext uri="{FF2B5EF4-FFF2-40B4-BE49-F238E27FC236}">
                <a16:creationId xmlns:a16="http://schemas.microsoft.com/office/drawing/2014/main" id="{D8B1C499-D641-DA0A-F5E2-E36D8FAC21F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  <a:extLst>
              <a:ext uri="{EF614191-4A63-4084-8F34-7B577D4012EB}">
                <a14:useLocalDpi xmlns:a14="http://schemas.microsoft.com/office/drawing/2010/main" xmlns:p14="http://schemas.microsoft.com/office/powerpoint/2010/main" xmlns:asvg="http://schemas.microsoft.com/office/drawing/2016/SVG/main" xmlns:a16="http://schemas.microsoft.com/office/drawing/2014/main" xmlns="" val="0"/>
              </a:ext>
            </a:extLst>
          </a:blip>
          <a:srcRect/>
          <a:stretch/>
        </p:blipFill>
        <p:spPr>
          <a:xfrm>
            <a:off x="0" y="4621556"/>
            <a:ext cx="2651760" cy="223748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074074075 L 0 0 E" pathEditMode="relative" ptsTypes="">
                                      <p:cBhvr>
                                        <p:cTn id="9" dur="1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550323E-06 0.07407696 L -1.9550323E-06 2.8822158E-06 E" pathEditMode="relative" ptsTypes="">
                                      <p:cBhvr>
                                        <p:cTn id="14" dur="1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7DCD4-91AA-BDBD-BF4B-7AFC010AB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ct">
            <a:extLst>
              <a:ext uri="{FF2B5EF4-FFF2-40B4-BE49-F238E27FC236}">
                <a16:creationId xmlns:a16="http://schemas.microsoft.com/office/drawing/2014/main" id="{0CCB47E5-3C3E-A589-948C-4B7E710AC3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alphaModFix/>
          </a:blip>
          <a:stretch/>
        </p:blipFill>
        <p:spPr>
          <a:xfrm rot="16200000">
            <a:off x="3718771" y="1415976"/>
            <a:ext cx="3987800" cy="664634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149D0F-B11C-95DB-4567-86179FAE5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717" y="124951"/>
            <a:ext cx="8229600" cy="1143000"/>
          </a:xfrm>
        </p:spPr>
        <p:txBody>
          <a:bodyPr/>
          <a:lstStyle/>
          <a:p>
            <a:pPr>
              <a:lnSpc>
                <a:spcPts val="5292"/>
              </a:lnSpc>
            </a:pPr>
            <a:r>
              <a:rPr lang="en-US" spc="-84" dirty="0">
                <a:solidFill>
                  <a:srgbClr val="181C24">
                    <a:alpha val="100000"/>
                  </a:srgbClr>
                </a:solidFill>
                <a:latin typeface="IBM Plex Serif SemiBold" panose="00000700000000000000" pitchFamily="2" charset="0"/>
              </a:rPr>
              <a:t> Manufacturing Dashboard</a:t>
            </a:r>
          </a:p>
        </p:txBody>
      </p:sp>
      <p:pic>
        <p:nvPicPr>
          <p:cNvPr id="6" name="layoutShapeInnerChild8">
            <a:extLst>
              <a:ext uri="{FF2B5EF4-FFF2-40B4-BE49-F238E27FC236}">
                <a16:creationId xmlns:a16="http://schemas.microsoft.com/office/drawing/2014/main" id="{ABB20E09-DD69-3431-FE13-3B75F643EC0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  <a:extLst>
              <a:ext uri="{EF614191-4A63-4084-8F34-7B577D4012EB}">
                <a14:useLocalDpi xmlns="" xmlns:a16="http://schemas.microsoft.com/office/drawing/2014/main" xmlns:asvg="http://schemas.microsoft.com/office/drawing/2016/SVG/main" xmlns:p14="http://schemas.microsoft.com/office/powerpoint/2010/main" xmlns:a14="http://schemas.microsoft.com/office/drawing/2010/main" val="0"/>
              </a:ext>
            </a:extLst>
          </a:blip>
          <a:srcRect/>
          <a:stretch/>
        </p:blipFill>
        <p:spPr>
          <a:xfrm>
            <a:off x="0" y="5295066"/>
            <a:ext cx="1852315" cy="156293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0A41569-D802-B679-0A6B-A765AC823F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1104064"/>
            <a:ext cx="9144000" cy="4191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895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074074075 L 0 0 E" pathEditMode="relative" ptsTypes="">
                                      <p:cBhvr>
                                        <p:cTn id="9" dur="1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550323E-06 0.07407696 L -1.9550323E-06 2.8822158E-06 E" pathEditMode="relative" ptsTypes="">
                                      <p:cBhvr>
                                        <p:cTn id="14" dur="1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9B7D0-F830-0FB4-7A57-88BE79E89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ct">
            <a:extLst>
              <a:ext uri="{FF2B5EF4-FFF2-40B4-BE49-F238E27FC236}">
                <a16:creationId xmlns:a16="http://schemas.microsoft.com/office/drawing/2014/main" id="{E678F272-1A01-85EC-566C-B8E04301CA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alphaModFix/>
          </a:blip>
          <a:stretch/>
        </p:blipFill>
        <p:spPr>
          <a:xfrm rot="16200000">
            <a:off x="3826927" y="1203929"/>
            <a:ext cx="3987800" cy="664634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E3F13D0-0C07-EC90-DBBA-2B9EFE304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9514"/>
            <a:ext cx="8229600" cy="1143000"/>
          </a:xfrm>
        </p:spPr>
        <p:txBody>
          <a:bodyPr/>
          <a:lstStyle/>
          <a:p>
            <a:pPr>
              <a:lnSpc>
                <a:spcPts val="5292"/>
              </a:lnSpc>
            </a:pPr>
            <a:r>
              <a:rPr lang="en-US" spc="-84" dirty="0">
                <a:solidFill>
                  <a:srgbClr val="181C24">
                    <a:alpha val="100000"/>
                  </a:srgbClr>
                </a:solidFill>
                <a:latin typeface="IBM Plex Serif SemiBold" panose="00000700000000000000" pitchFamily="2" charset="0"/>
              </a:rPr>
              <a:t> Manufacturing Dashboard</a:t>
            </a:r>
          </a:p>
        </p:txBody>
      </p:sp>
      <p:pic>
        <p:nvPicPr>
          <p:cNvPr id="6" name="layoutShapeInnerChild8">
            <a:extLst>
              <a:ext uri="{FF2B5EF4-FFF2-40B4-BE49-F238E27FC236}">
                <a16:creationId xmlns:a16="http://schemas.microsoft.com/office/drawing/2014/main" id="{88371F07-AE98-091F-CC10-743AF83A16D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  <a:extLst>
              <a:ext uri="{EF614191-4A63-4084-8F34-7B577D4012EB}">
                <a14:useLocalDpi xmlns="" xmlns:a16="http://schemas.microsoft.com/office/drawing/2014/main" xmlns:asvg="http://schemas.microsoft.com/office/drawing/2016/SVG/main" xmlns:p14="http://schemas.microsoft.com/office/powerpoint/2010/main" xmlns:a14="http://schemas.microsoft.com/office/drawing/2010/main" val="0"/>
              </a:ext>
            </a:extLst>
          </a:blip>
          <a:srcRect/>
          <a:stretch/>
        </p:blipFill>
        <p:spPr>
          <a:xfrm>
            <a:off x="0" y="5356388"/>
            <a:ext cx="1779639" cy="15016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383E70E-1B3E-1DC4-5C3C-31514F044166}"/>
              </a:ext>
            </a:extLst>
          </p:cNvPr>
          <p:cNvSpPr txBox="1"/>
          <p:nvPr/>
        </p:nvSpPr>
        <p:spPr>
          <a:xfrm>
            <a:off x="6492240" y="5689536"/>
            <a:ext cx="265176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IBM Plex Serif SemiBold" panose="02060703050406000203" pitchFamily="18" charset="0"/>
              </a:rPr>
              <a:t>Thank You</a:t>
            </a:r>
            <a:endParaRPr lang="en-IN" sz="2400" dirty="0">
              <a:latin typeface="IBM Plex Serif SemiBold" panose="02060703050406000203" pitchFamily="18" charset="0"/>
            </a:endParaRP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D22C2D-C01E-FC1F-36F7-A1F104150D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27784"/>
            <a:ext cx="9144000" cy="4298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902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074074075 L 0 0 E" pathEditMode="relative" ptsTypes="">
                                      <p:cBhvr>
                                        <p:cTn id="9" dur="1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550323E-06 0.07407696 L -1.9550323E-06 2.8822158E-06 E" pathEditMode="relative" ptsTypes="">
                                      <p:cBhvr>
                                        <p:cTn id="14" dur="1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202</Words>
  <Application>Microsoft Office PowerPoint</Application>
  <PresentationFormat>On-screen Show (4:3)</PresentationFormat>
  <Paragraphs>44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IBM Plex Serif SemiBold</vt:lpstr>
      <vt:lpstr>Office Theme</vt:lpstr>
      <vt:lpstr>Project on Supply Chain Analytics To analyze supply chain operations and monitor key performance indicators (KPIs) for better decision-making.</vt:lpstr>
      <vt:lpstr>Key Performance Indicators (KPIs)</vt:lpstr>
      <vt:lpstr>Manufactured vs Rejected Quantity</vt:lpstr>
      <vt:lpstr>Department-wise Performance</vt:lpstr>
      <vt:lpstr>Monthly Production Trend</vt:lpstr>
      <vt:lpstr>Production vs Rejection Rate Trend Analysis</vt:lpstr>
      <vt:lpstr>Dashboard Filters</vt:lpstr>
      <vt:lpstr> Manufacturing Dashboard</vt:lpstr>
      <vt:lpstr> Manufacturing Dashboard</vt:lpstr>
      <vt:lpstr> Manufacturing Dashboard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Rushikesh Kajalkar</dc:creator>
  <cp:keywords/>
  <dc:description>generated using python-pptx</dc:description>
  <cp:lastModifiedBy>RUSHIKESH KAJALKAR</cp:lastModifiedBy>
  <cp:revision>15</cp:revision>
  <dcterms:created xsi:type="dcterms:W3CDTF">2013-01-27T09:14:16Z</dcterms:created>
  <dcterms:modified xsi:type="dcterms:W3CDTF">2026-06-12T07:34:29Z</dcterms:modified>
  <cp:category/>
</cp:coreProperties>
</file>